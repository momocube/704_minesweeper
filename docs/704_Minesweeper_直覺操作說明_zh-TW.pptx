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475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  <a:ln w="12700">
            <a:solidFill>
              <a:srgbClr val="0507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123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44616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704 MINESWEEPER  /  PLAYER GUIDE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22EED06-39B4-9AC9-09F4-1906F855A4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0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  <a:ln w="12700">
            <a:solidFill>
              <a:srgbClr val="0507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QUICK START / 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704 踩地雷｜一看就會操作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88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給玩家與現場人員的直覺版說明：看到什麼、踩哪裡、接下來會發生什麼。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6949440" cy="4160520"/>
          </a:xfrm>
          <a:prstGeom prst="roundRect">
            <a:avLst>
              <a:gd name="adj" fmla="val 1319"/>
            </a:avLst>
          </a:prstGeom>
          <a:solidFill>
            <a:srgbClr val="07151E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5740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把整個空間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變成一張地雷地圖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32688" y="349300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FF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先在地板選 SCAN／MARK  →  再摸牆面格子  →  看結果並繼續判斷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2688" y="425196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39FF14">
              <a:alpha val="22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2611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SCAN  揭露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87168" y="425196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FF2D8F">
              <a:alpha val="22000"/>
            </a:srgbClr>
          </a:solidFill>
          <a:ln w="12700">
            <a:solidFill>
              <a:srgbClr val="FF2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42611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2D8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MARK  插旗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41648" y="42519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B000">
              <a:alpha val="22000"/>
            </a:srgbClr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41648" y="426110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B0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PAUSE  暫停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32688" y="4983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kern="0" spc="120" dirty="0">
                <a:solidFill>
                  <a:srgbClr val="FFB0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READY  →  3  2  1  →  PLAY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09560" y="164592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091018"/>
          </a:solidFill>
          <a:ln w="12700">
            <a:solidFill>
              <a:srgbClr val="1D3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901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4D69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PLAY AREA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12480" y="2423160"/>
            <a:ext cx="640080" cy="457200"/>
          </a:xfrm>
          <a:prstGeom prst="rect">
            <a:avLst/>
          </a:prstGeom>
          <a:solidFill>
            <a:srgbClr val="00FFE5">
              <a:alpha val="18000"/>
            </a:srgbClr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62288" y="2423160"/>
            <a:ext cx="640080" cy="457200"/>
          </a:xfrm>
          <a:prstGeom prst="rect">
            <a:avLst/>
          </a:prstGeom>
          <a:solidFill>
            <a:srgbClr val="00FFE5">
              <a:alpha val="18000"/>
            </a:srgbClr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12096" y="2423160"/>
            <a:ext cx="640080" cy="457200"/>
          </a:xfrm>
          <a:prstGeom prst="rect">
            <a:avLst/>
          </a:prstGeom>
          <a:solidFill>
            <a:srgbClr val="FF2D8F">
              <a:alpha val="55000"/>
            </a:srgbClr>
          </a:solidFill>
          <a:ln w="12700">
            <a:solidFill>
              <a:srgbClr val="FF2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3017520"/>
            <a:ext cx="640080" cy="457200"/>
          </a:xfrm>
          <a:prstGeom prst="rect">
            <a:avLst/>
          </a:prstGeom>
          <a:solidFill>
            <a:srgbClr val="00FFE5">
              <a:alpha val="18000"/>
            </a:srgbClr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62288" y="3017520"/>
            <a:ext cx="640080" cy="457200"/>
          </a:xfrm>
          <a:prstGeom prst="rect">
            <a:avLst/>
          </a:prstGeom>
          <a:solidFill>
            <a:srgbClr val="00FFE5">
              <a:alpha val="18000"/>
            </a:srgbClr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3749040"/>
            <a:ext cx="2139696" cy="1143000"/>
          </a:xfrm>
          <a:prstGeom prst="rect">
            <a:avLst/>
          </a:prstGeom>
          <a:solidFill>
            <a:srgbClr val="39FF14">
              <a:alpha val="12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16052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WALLS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82918" y="4867534"/>
            <a:ext cx="798820" cy="798820"/>
          </a:xfrm>
          <a:prstGeom prst="ellipse">
            <a:avLst/>
          </a:prstGeom>
          <a:solidFill>
            <a:srgbClr val="FF2D8F">
              <a:alpha val="16000"/>
            </a:srgbClr>
          </a:solidFill>
          <a:ln w="25400">
            <a:solidFill>
              <a:srgbClr val="FF2D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05813" y="4990429"/>
            <a:ext cx="553029" cy="553029"/>
          </a:xfrm>
          <a:prstGeom prst="ellipse">
            <a:avLst/>
          </a:prstGeom>
          <a:solidFill>
            <a:srgbClr val="39FF14">
              <a:alpha val="2200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25128" y="495897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2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⚑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933688" y="529730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2D8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MARK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070848" y="4937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FF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◎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979408" y="5376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SCAN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12480" y="558698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FLOOR</a:t>
            </a:r>
            <a:endParaRPr lang="en-US" sz="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  <a:ln w="12700">
            <a:solidFill>
              <a:srgbClr val="0507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/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先看懂畫面：每個區域各自負責什麼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88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牆面負責「選格與看結果」；地板負責「選動作與控制遊戲」。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6903720" cy="4315968"/>
          </a:xfrm>
          <a:prstGeom prst="roundRect">
            <a:avLst>
              <a:gd name="adj" fmla="val 1271"/>
            </a:avLst>
          </a:prstGeom>
          <a:solidFill>
            <a:srgbClr val="080F17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10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FF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牆面畫面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40280"/>
            <a:ext cx="6355080" cy="676656"/>
          </a:xfrm>
          <a:prstGeom prst="roundRect">
            <a:avLst>
              <a:gd name="adj" fmla="val 8108"/>
            </a:avLst>
          </a:prstGeom>
          <a:solidFill>
            <a:srgbClr val="0B2029"/>
          </a:solidFill>
          <a:ln w="12700">
            <a:solidFill>
              <a:srgbClr val="1B69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3865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WALL TOP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94176" y="234086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91AE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T.UPTIME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38728" y="2532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02:18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77840" y="24505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SAFE  128/680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51560" y="324612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324612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112B30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325526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331720" y="324612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324612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324612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324612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24612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324612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24612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3886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91640" y="3886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31720" y="3886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3886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3886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31750">
            <a:solidFill>
              <a:srgbClr val="00FF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48456" y="3922776"/>
            <a:ext cx="493776" cy="493776"/>
          </a:xfrm>
          <a:prstGeom prst="rect">
            <a:avLst/>
          </a:prstGeom>
          <a:solidFill>
            <a:srgbClr val="00FFE5">
              <a:alpha val="12000"/>
            </a:srgbClr>
          </a:solidFill>
          <a:ln w="25400">
            <a:solidFill>
              <a:srgbClr val="00FF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3886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886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32120" y="3886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3886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" y="452628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91640" y="452628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31720" y="452628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71800" y="452628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11880" y="452628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51960" y="452628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452628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32120" y="452628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452628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5394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選中的格子會發亮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36992" y="1920240"/>
            <a:ext cx="347472" cy="274320"/>
          </a:xfrm>
          <a:prstGeom prst="roundRect">
            <a:avLst>
              <a:gd name="adj" fmla="val 26667"/>
            </a:avLst>
          </a:prstGeom>
          <a:solidFill>
            <a:srgbClr val="00FFE5">
              <a:alpha val="22000"/>
            </a:srgbClr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36992" y="192938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124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HUD：時間、已揭露、安全格、威脅數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936992" y="2971800"/>
            <a:ext cx="347472" cy="274320"/>
          </a:xfrm>
          <a:prstGeom prst="roundRect">
            <a:avLst>
              <a:gd name="adj" fmla="val 26667"/>
            </a:avLst>
          </a:prstGeom>
          <a:solidFill>
            <a:srgbClr val="00FFE5">
              <a:alpha val="22000"/>
            </a:srgbClr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36992" y="298094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41248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棋盤：摸牆面上的格子來執行動作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936992" y="4023360"/>
            <a:ext cx="347472" cy="274320"/>
          </a:xfrm>
          <a:prstGeom prst="roundRect">
            <a:avLst>
              <a:gd name="adj" fmla="val 26667"/>
            </a:avLst>
          </a:prstGeom>
          <a:solidFill>
            <a:srgbClr val="39FF14">
              <a:alpha val="22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36992" y="403250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41248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地板內圈：SCAN／揭露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936992" y="5074920"/>
            <a:ext cx="347472" cy="274320"/>
          </a:xfrm>
          <a:prstGeom prst="roundRect">
            <a:avLst>
              <a:gd name="adj" fmla="val 26667"/>
            </a:avLst>
          </a:prstGeom>
          <a:solidFill>
            <a:srgbClr val="FF2D8F">
              <a:alpha val="22000"/>
            </a:srgbClr>
          </a:solidFill>
          <a:ln w="12700">
            <a:solidFill>
              <a:srgbClr val="FF2D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36992" y="508406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2D8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1248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地板外圈：MARK／插旗</a:t>
            </a:r>
            <a:endParaRPr lang="en-US" sz="11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  <a:ln w="12700">
            <a:solidFill>
              <a:srgbClr val="0507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HOW TO PLAY /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實際操作只有三步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88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記住：先踩地板選動作，再摸牆面格子，最後看數字與結果。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2880360" cy="3611880"/>
          </a:xfrm>
          <a:prstGeom prst="roundRect">
            <a:avLst>
              <a:gd name="adj" fmla="val 1905"/>
            </a:avLst>
          </a:prstGeom>
          <a:solidFill>
            <a:srgbClr val="09151E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299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踩地板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096512" y="1737360"/>
            <a:ext cx="2880360" cy="3611880"/>
          </a:xfrm>
          <a:prstGeom prst="roundRect">
            <a:avLst>
              <a:gd name="adj" fmla="val 1905"/>
            </a:avLst>
          </a:prstGeom>
          <a:solidFill>
            <a:srgbClr val="09151E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20299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FF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摸牆面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61504" y="1737360"/>
            <a:ext cx="2880360" cy="3611880"/>
          </a:xfrm>
          <a:prstGeom prst="roundRect">
            <a:avLst>
              <a:gd name="adj" fmla="val 1905"/>
            </a:avLst>
          </a:prstGeom>
          <a:solidFill>
            <a:srgbClr val="09151E"/>
          </a:solidFill>
          <a:ln w="12700">
            <a:solidFill>
              <a:srgbClr val="FF2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0104" y="20299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2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看結果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91569" y="2762585"/>
            <a:ext cx="1369405" cy="1369405"/>
          </a:xfrm>
          <a:prstGeom prst="ellipse">
            <a:avLst/>
          </a:prstGeom>
          <a:solidFill>
            <a:srgbClr val="FF2D8F">
              <a:alpha val="16000"/>
            </a:srgbClr>
          </a:solidFill>
          <a:ln w="25400">
            <a:solidFill>
              <a:srgbClr val="FF2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02247" y="2973263"/>
            <a:ext cx="948050" cy="948050"/>
          </a:xfrm>
          <a:prstGeom prst="ellipse">
            <a:avLst/>
          </a:prstGeom>
          <a:solidFill>
            <a:srgbClr val="39FF14">
              <a:alpha val="2200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2854025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2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27632" y="3192353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2D8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MARK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64792" y="311810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FF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◎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73352" y="35570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SCAN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60120" y="4663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內圈 = SCAN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50109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2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外圈 = MARK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73752" y="26974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85816" y="26974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26974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3752" y="320954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85816" y="320954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7141D"/>
          </a:solidFill>
          <a:ln w="31750">
            <a:solidFill>
              <a:srgbClr val="00FF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2392" y="3246120"/>
            <a:ext cx="384048" cy="384048"/>
          </a:xfrm>
          <a:prstGeom prst="rect">
            <a:avLst/>
          </a:prstGeom>
          <a:solidFill>
            <a:srgbClr val="00FFE5">
              <a:alpha val="12000"/>
            </a:srgbClr>
          </a:solidFill>
          <a:ln w="25400">
            <a:solidFill>
              <a:srgbClr val="00FF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320954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73752" y="37216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85816" y="37216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37216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摸一格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370832" y="4828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該格被鎖定／高亮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375904" y="2724912"/>
            <a:ext cx="466344" cy="466344"/>
          </a:xfrm>
          <a:prstGeom prst="roundRect">
            <a:avLst>
              <a:gd name="adj" fmla="val 7843"/>
            </a:avLst>
          </a:prstGeom>
          <a:solidFill>
            <a:srgbClr val="07141D"/>
          </a:solidFill>
          <a:ln w="12700">
            <a:solidFill>
              <a:srgbClr val="39FF14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97112" y="2724912"/>
            <a:ext cx="466344" cy="466344"/>
          </a:xfrm>
          <a:prstGeom prst="roundRect">
            <a:avLst>
              <a:gd name="adj" fmla="val 7843"/>
            </a:avLst>
          </a:prstGeom>
          <a:solidFill>
            <a:srgbClr val="07141D"/>
          </a:solidFill>
          <a:ln w="12700">
            <a:solidFill>
              <a:srgbClr val="39FF14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18320" y="2724912"/>
            <a:ext cx="466344" cy="466344"/>
          </a:xfrm>
          <a:prstGeom prst="roundRect">
            <a:avLst>
              <a:gd name="adj" fmla="val 7843"/>
            </a:avLst>
          </a:prstGeom>
          <a:solidFill>
            <a:srgbClr val="07141D"/>
          </a:solidFill>
          <a:ln w="12700">
            <a:solidFill>
              <a:srgbClr val="39FF14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75904" y="3246120"/>
            <a:ext cx="466344" cy="466344"/>
          </a:xfrm>
          <a:prstGeom prst="roundRect">
            <a:avLst>
              <a:gd name="adj" fmla="val 7843"/>
            </a:avLst>
          </a:prstGeom>
          <a:solidFill>
            <a:srgbClr val="07141D"/>
          </a:solidFill>
          <a:ln w="12700">
            <a:solidFill>
              <a:srgbClr val="39FF14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97112" y="3246120"/>
            <a:ext cx="466344" cy="466344"/>
          </a:xfrm>
          <a:prstGeom prst="roundRect">
            <a:avLst>
              <a:gd name="adj" fmla="val 7843"/>
            </a:avLst>
          </a:prstGeom>
          <a:solidFill>
            <a:srgbClr val="112B30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97112" y="3255264"/>
            <a:ext cx="4663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418320" y="3246120"/>
            <a:ext cx="466344" cy="466344"/>
          </a:xfrm>
          <a:prstGeom prst="roundRect">
            <a:avLst>
              <a:gd name="adj" fmla="val 7843"/>
            </a:avLst>
          </a:prstGeom>
          <a:solidFill>
            <a:srgbClr val="07141D"/>
          </a:solidFill>
          <a:ln w="12700">
            <a:solidFill>
              <a:srgbClr val="39FF14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75904" y="3767328"/>
            <a:ext cx="466344" cy="466344"/>
          </a:xfrm>
          <a:prstGeom prst="roundRect">
            <a:avLst>
              <a:gd name="adj" fmla="val 7843"/>
            </a:avLst>
          </a:prstGeom>
          <a:solidFill>
            <a:srgbClr val="07141D"/>
          </a:solidFill>
          <a:ln w="12700">
            <a:solidFill>
              <a:srgbClr val="39FF14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97112" y="3767328"/>
            <a:ext cx="466344" cy="466344"/>
          </a:xfrm>
          <a:prstGeom prst="roundRect">
            <a:avLst>
              <a:gd name="adj" fmla="val 7843"/>
            </a:avLst>
          </a:prstGeom>
          <a:solidFill>
            <a:srgbClr val="07141D"/>
          </a:solidFill>
          <a:ln w="12700">
            <a:solidFill>
              <a:srgbClr val="39FF14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18320" y="3767328"/>
            <a:ext cx="466344" cy="466344"/>
          </a:xfrm>
          <a:prstGeom prst="roundRect">
            <a:avLst>
              <a:gd name="adj" fmla="val 7843"/>
            </a:avLst>
          </a:prstGeom>
          <a:solidFill>
            <a:srgbClr val="07141D"/>
          </a:solidFill>
          <a:ln w="12700">
            <a:solidFill>
              <a:srgbClr val="39FF14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97112" y="3246120"/>
            <a:ext cx="466344" cy="466344"/>
          </a:xfrm>
          <a:prstGeom prst="roundRect">
            <a:avLst>
              <a:gd name="adj" fmla="val 7843"/>
            </a:avLst>
          </a:prstGeom>
          <a:solidFill>
            <a:srgbClr val="112B30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97112" y="3255264"/>
            <a:ext cx="4663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735824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數字揭露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735824" y="4828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看數字，繼續判斷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12464" y="3474720"/>
            <a:ext cx="301752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077456" y="3474720"/>
            <a:ext cx="301752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51560" y="5669280"/>
            <a:ext cx="10058400" cy="384048"/>
          </a:xfrm>
          <a:prstGeom prst="roundRect">
            <a:avLst>
              <a:gd name="adj" fmla="val 14286"/>
            </a:avLst>
          </a:prstGeom>
          <a:solidFill>
            <a:srgbClr val="10232B"/>
          </a:solidFill>
          <a:ln w="12700">
            <a:solidFill>
              <a:srgbClr val="204F5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34440" y="57332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先踩地板選模式，再摸牆面格子執行動作。</a:t>
            </a:r>
            <a:endParaRPr lang="en-US" sz="11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  <a:ln w="12700">
            <a:solidFill>
              <a:srgbClr val="0507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FLOOR CONTROL /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地板操作：兩種玩法 + 一個暫停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88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踩不同區域，會切換目前要對牆面執行的動作。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1572768"/>
            <a:ext cx="5074920" cy="4526280"/>
          </a:xfrm>
          <a:prstGeom prst="roundRect">
            <a:avLst>
              <a:gd name="adj" fmla="val 1212"/>
            </a:avLst>
          </a:prstGeom>
          <a:solidFill>
            <a:srgbClr val="09131C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11385" y="2439985"/>
            <a:ext cx="1978030" cy="1978030"/>
          </a:xfrm>
          <a:prstGeom prst="ellipse">
            <a:avLst/>
          </a:prstGeom>
          <a:solidFill>
            <a:srgbClr val="FF2D8F">
              <a:alpha val="16000"/>
            </a:srgbClr>
          </a:solidFill>
          <a:ln w="25400">
            <a:solidFill>
              <a:srgbClr val="FF2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5697" y="2744297"/>
            <a:ext cx="1369405" cy="1369405"/>
          </a:xfrm>
          <a:prstGeom prst="ellipse">
            <a:avLst/>
          </a:prstGeom>
          <a:solidFill>
            <a:srgbClr val="39FF14">
              <a:alpha val="2200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531425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2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651760" y="2869753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2D8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MARK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88920" y="309981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FF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◎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3538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SCAN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6012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FF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5065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SCAN  揭露格子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2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50657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  插旗／取消旗子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572768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17160E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8105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B0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PAUSE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踩下方的暫停區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221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暫停計時，等待工作人員選擇 RESUME 或 ABORT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306324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0B1820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291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FF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模式提示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0" y="3291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牆面 HUD 顏色會跟著目前模式變化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71246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綠色＝SCAN　粉紅＝MARK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4553712"/>
            <a:ext cx="5349240" cy="1545336"/>
          </a:xfrm>
          <a:prstGeom prst="roundRect">
            <a:avLst>
              <a:gd name="adj" fmla="val 3550"/>
            </a:avLst>
          </a:prstGeom>
          <a:solidFill>
            <a:srgbClr val="101018"/>
          </a:solidFill>
          <a:ln w="12700">
            <a:solidFill>
              <a:srgbClr val="4D69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7731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小提醒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514807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四面牆都可以選格。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地板中央的模式按鈕不會直接開始遊戲；開始前會先倒數。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  <a:ln w="12700">
            <a:solidFill>
              <a:srgbClr val="0507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RULES /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數字怎麼看？它告訴你附近有幾顆雷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88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每個數字都是線索：只計算該格周圍相鄰的 8 格。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27632"/>
            <a:ext cx="4937760" cy="4343400"/>
          </a:xfrm>
          <a:prstGeom prst="roundRect">
            <a:avLst>
              <a:gd name="adj" fmla="val 1263"/>
            </a:avLst>
          </a:prstGeom>
          <a:solidFill>
            <a:srgbClr val="08141C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2212848"/>
            <a:ext cx="786384" cy="786384"/>
          </a:xfrm>
          <a:prstGeom prst="roundRect">
            <a:avLst>
              <a:gd name="adj" fmla="val 4651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0008" y="2212848"/>
            <a:ext cx="786384" cy="786384"/>
          </a:xfrm>
          <a:prstGeom prst="roundRect">
            <a:avLst>
              <a:gd name="adj" fmla="val 4651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91256" y="2212848"/>
            <a:ext cx="786384" cy="786384"/>
          </a:xfrm>
          <a:prstGeom prst="roundRect">
            <a:avLst>
              <a:gd name="adj" fmla="val 4651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3054096"/>
            <a:ext cx="786384" cy="786384"/>
          </a:xfrm>
          <a:prstGeom prst="roundRect">
            <a:avLst>
              <a:gd name="adj" fmla="val 4651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0008" y="3054096"/>
            <a:ext cx="786384" cy="786384"/>
          </a:xfrm>
          <a:prstGeom prst="roundRect">
            <a:avLst>
              <a:gd name="adj" fmla="val 4651"/>
            </a:avLst>
          </a:prstGeom>
          <a:solidFill>
            <a:srgbClr val="112B30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0008" y="3063240"/>
            <a:ext cx="7863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91256" y="3054096"/>
            <a:ext cx="786384" cy="786384"/>
          </a:xfrm>
          <a:prstGeom prst="roundRect">
            <a:avLst>
              <a:gd name="adj" fmla="val 4651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760" y="3895344"/>
            <a:ext cx="786384" cy="786384"/>
          </a:xfrm>
          <a:prstGeom prst="roundRect">
            <a:avLst>
              <a:gd name="adj" fmla="val 4651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0008" y="3895344"/>
            <a:ext cx="786384" cy="786384"/>
          </a:xfrm>
          <a:prstGeom prst="roundRect">
            <a:avLst>
              <a:gd name="adj" fmla="val 4651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91256" y="3895344"/>
            <a:ext cx="786384" cy="786384"/>
          </a:xfrm>
          <a:prstGeom prst="roundRect">
            <a:avLst>
              <a:gd name="adj" fmla="val 4651"/>
            </a:avLst>
          </a:prstGeom>
          <a:solidFill>
            <a:srgbClr val="07141D"/>
          </a:solidFill>
          <a:ln w="12700">
            <a:solidFill>
              <a:srgbClr val="00FFE5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0008" y="3054096"/>
            <a:ext cx="786384" cy="786384"/>
          </a:xfrm>
          <a:prstGeom prst="roundRect">
            <a:avLst>
              <a:gd name="adj" fmla="val 4651"/>
            </a:avLst>
          </a:prstGeom>
          <a:solidFill>
            <a:srgbClr val="112B30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0008" y="3063240"/>
            <a:ext cx="7863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350008" y="3108960"/>
            <a:ext cx="78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960120" y="4800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中心格的數字 = 周圍 8 格中的地雷數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5230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B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數字越大，附近越危險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89320" y="1627632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0252C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9FF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揭露安全格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92440" y="1847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會自動展開一大片安全區域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2761488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28151D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980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1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踩到地雷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92440" y="29809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BOOM → 全場紅色凍結約 5 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89320" y="3895344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51322"/>
          </a:solidFill>
          <a:ln w="12700">
            <a:solidFill>
              <a:srgbClr val="FF2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2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92440" y="404164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只是標記，不代表一定是雷；可再踩一次取消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9320" y="50292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8140A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248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勝利條件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92440" y="524865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揭露所有非地雷格 → 過關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  <a:ln w="12700">
            <a:solidFill>
              <a:srgbClr val="0507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START SEQUENCE / 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開始遊戲會發生什麼？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88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按下 PLAY 後，所有牆面同步顯示相同倒數。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1920240" cy="3182112"/>
          </a:xfrm>
          <a:prstGeom prst="roundRect">
            <a:avLst>
              <a:gd name="adj" fmla="val 2857"/>
            </a:avLst>
          </a:prstGeom>
          <a:solidFill>
            <a:srgbClr val="09151E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PLAY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95528" y="32461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1AE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地板中央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38862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踩下開始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15184" y="3337560"/>
            <a:ext cx="292608" cy="0"/>
          </a:xfrm>
          <a:prstGeom prst="line">
            <a:avLst/>
          </a:prstGeom>
          <a:noFill/>
          <a:ln w="2540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62656" y="1828800"/>
            <a:ext cx="1920240" cy="3182112"/>
          </a:xfrm>
          <a:prstGeom prst="roundRect">
            <a:avLst>
              <a:gd name="adj" fmla="val 2857"/>
            </a:avLst>
          </a:prstGeom>
          <a:solidFill>
            <a:srgbClr val="09151E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3700" dirty="0"/>
          </a:p>
        </p:txBody>
      </p:sp>
      <p:sp>
        <p:nvSpPr>
          <p:cNvPr id="14" name="Text 12"/>
          <p:cNvSpPr/>
          <p:nvPr/>
        </p:nvSpPr>
        <p:spPr>
          <a:xfrm>
            <a:off x="3099816" y="32461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1AE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READY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99816" y="38862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準備站位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19472" y="3337560"/>
            <a:ext cx="292608" cy="0"/>
          </a:xfrm>
          <a:prstGeom prst="line">
            <a:avLst/>
          </a:prstGeom>
          <a:noFill/>
          <a:ln w="2540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66944" y="1828800"/>
            <a:ext cx="1920240" cy="3182112"/>
          </a:xfrm>
          <a:prstGeom prst="roundRect">
            <a:avLst>
              <a:gd name="adj" fmla="val 2857"/>
            </a:avLst>
          </a:prstGeom>
          <a:solidFill>
            <a:srgbClr val="09151E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04104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FFB0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3700" dirty="0"/>
          </a:p>
        </p:txBody>
      </p:sp>
      <p:sp>
        <p:nvSpPr>
          <p:cNvPr id="19" name="Text 17"/>
          <p:cNvSpPr/>
          <p:nvPr/>
        </p:nvSpPr>
        <p:spPr>
          <a:xfrm>
            <a:off x="5404104" y="32461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1AE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FOCUS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04104" y="38862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確認分工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3760" y="3337560"/>
            <a:ext cx="292608" cy="0"/>
          </a:xfrm>
          <a:prstGeom prst="line">
            <a:avLst/>
          </a:prstGeom>
          <a:noFill/>
          <a:ln w="25400">
            <a:solidFill>
              <a:srgbClr val="FFB00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71232" y="1828800"/>
            <a:ext cx="1920240" cy="3182112"/>
          </a:xfrm>
          <a:prstGeom prst="roundRect">
            <a:avLst>
              <a:gd name="adj" fmla="val 2857"/>
            </a:avLst>
          </a:prstGeom>
          <a:solidFill>
            <a:srgbClr val="09151E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08392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FF174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3700" dirty="0"/>
          </a:p>
        </p:txBody>
      </p:sp>
      <p:sp>
        <p:nvSpPr>
          <p:cNvPr id="24" name="Text 22"/>
          <p:cNvSpPr/>
          <p:nvPr/>
        </p:nvSpPr>
        <p:spPr>
          <a:xfrm>
            <a:off x="7708392" y="32461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1AE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08392" y="38862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準備摸牆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28048" y="3337560"/>
            <a:ext cx="292608" cy="0"/>
          </a:xfrm>
          <a:prstGeom prst="line">
            <a:avLst/>
          </a:prstGeom>
          <a:noFill/>
          <a:ln w="25400">
            <a:solidFill>
              <a:srgbClr val="FF174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875520" y="1828800"/>
            <a:ext cx="1920240" cy="3182112"/>
          </a:xfrm>
          <a:prstGeom prst="roundRect">
            <a:avLst>
              <a:gd name="adj" fmla="val 2857"/>
            </a:avLst>
          </a:prstGeom>
          <a:solidFill>
            <a:srgbClr val="09151E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1268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GAME ON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10012680" y="32461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1AE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STARTED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12680" y="38862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開始計時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97280" y="5440680"/>
            <a:ext cx="9966960" cy="502920"/>
          </a:xfrm>
          <a:prstGeom prst="roundRect">
            <a:avLst>
              <a:gd name="adj" fmla="val 10909"/>
            </a:avLst>
          </a:prstGeom>
          <a:solidFill>
            <a:srgbClr val="291711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25880" y="5559552"/>
            <a:ext cx="9509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倒數期間不能操作，正式計時只從最後進入 PLAY 後開始。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  <a:ln w="12700">
            <a:solidFill>
              <a:srgbClr val="0507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TUTORIAL / 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第一次玩：先看完 4 個教學畫面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88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 PLAY 後，四面主牆會同步播放教學；每一步在地板踩 CONTINUE。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737360"/>
            <a:ext cx="5138928" cy="1234440"/>
          </a:xfrm>
          <a:prstGeom prst="roundRect">
            <a:avLst>
              <a:gd name="adj" fmla="val 4444"/>
            </a:avLst>
          </a:prstGeom>
          <a:solidFill>
            <a:srgbClr val="09151E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65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09928" y="1947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FF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雙模式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09928" y="2377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SCAN 揭露 / MARK 插旗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5138928" cy="1234440"/>
          </a:xfrm>
          <a:prstGeom prst="roundRect">
            <a:avLst>
              <a:gd name="adj" fmla="val 4444"/>
            </a:avLst>
          </a:prstGeom>
          <a:solidFill>
            <a:srgbClr val="09151E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965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269480" y="1947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9FF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格子邏輯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69480" y="2377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數字與附近地雷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" y="3310128"/>
            <a:ext cx="5138928" cy="1234440"/>
          </a:xfrm>
          <a:prstGeom prst="roundRect">
            <a:avLst>
              <a:gd name="adj" fmla="val 4444"/>
            </a:avLst>
          </a:prstGeom>
          <a:solidFill>
            <a:srgbClr val="09151E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538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0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09928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B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時間與威脅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09928" y="3950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計時器 / SAFE / THREAT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310128"/>
            <a:ext cx="5138928" cy="1234440"/>
          </a:xfrm>
          <a:prstGeom prst="roundRect">
            <a:avLst>
              <a:gd name="adj" fmla="val 4444"/>
            </a:avLst>
          </a:prstGeom>
          <a:solidFill>
            <a:srgbClr val="09151E"/>
          </a:solidFill>
          <a:ln w="12700">
            <a:solidFill>
              <a:srgbClr val="FF2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538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2D8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2694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2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PAUSE 與按鈕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3950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暫停、繼續、重新開始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5074920"/>
            <a:ext cx="10287000" cy="786384"/>
          </a:xfrm>
          <a:prstGeom prst="roundRect">
            <a:avLst>
              <a:gd name="adj" fmla="val 6977"/>
            </a:avLst>
          </a:prstGeom>
          <a:solidFill>
            <a:srgbClr val="08201E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5212080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每一頁看完 → 踩地板中央 CONTINUE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頁結束 → 再踩一次 PLAY，進入 3・2・1 倒數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  <a:ln w="12700">
            <a:solidFill>
              <a:srgbClr val="0507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SPECIAL STATES / 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特殊狀態：看到這些畫面，不要慌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88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每種狀態都有明確下一步。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664208"/>
            <a:ext cx="5074920" cy="1664208"/>
          </a:xfrm>
          <a:prstGeom prst="roundRect">
            <a:avLst>
              <a:gd name="adj" fmla="val 3297"/>
            </a:avLst>
          </a:prstGeom>
          <a:solidFill>
            <a:srgbClr val="0A151D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928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B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⏸  PAUSED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3957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遊戲暫停、計時停止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7614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內圈 RESUME＝繼續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外圈 ABORT＝結束本局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664208"/>
            <a:ext cx="5074920" cy="1664208"/>
          </a:xfrm>
          <a:prstGeom prst="roundRect">
            <a:avLst>
              <a:gd name="adj" fmla="val 3297"/>
            </a:avLst>
          </a:prstGeom>
          <a:solidFill>
            <a:srgbClr val="0A151D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928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1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💥  FREEZE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3957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踩到地雷後暫停操作約 5 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27614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紅色波紋結束後自動恢復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721608"/>
            <a:ext cx="5074920" cy="1664208"/>
          </a:xfrm>
          <a:prstGeom prst="roundRect">
            <a:avLst>
              <a:gd name="adj" fmla="val 3297"/>
            </a:avLst>
          </a:prstGeom>
          <a:solidFill>
            <a:srgbClr val="211019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502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174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TIME OUT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44531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時間到，棋盤凍結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8188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等待紅色波紋結束，再踩中央返回待機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3721608"/>
            <a:ext cx="5074920" cy="1664208"/>
          </a:xfrm>
          <a:prstGeom prst="roundRect">
            <a:avLst>
              <a:gd name="adj" fmla="val 3297"/>
            </a:avLst>
          </a:prstGeom>
          <a:solidFill>
            <a:srgbClr val="0A151D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9502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9FF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CLEAR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7960" y="44531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所有安全格都揭露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48188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過關；踩中央重新開始下一局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0" y="5742432"/>
            <a:ext cx="8183880" cy="365760"/>
          </a:xfrm>
          <a:prstGeom prst="roundRect">
            <a:avLst>
              <a:gd name="adj" fmla="val 15000"/>
            </a:avLst>
          </a:prstGeom>
          <a:solidFill>
            <a:srgbClr val="1A101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5806440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1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TIME OUT ≠ 當機：代表時間限制已到。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  <a:ln w="12700">
            <a:solidFill>
              <a:srgbClr val="0507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ON-SITE CHECK / 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現場工作人員：開場前只要確認 5 件事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88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這一頁可以直接當作開場 checklist。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609344"/>
            <a:ext cx="10652760" cy="640080"/>
          </a:xfrm>
          <a:prstGeom prst="roundRect">
            <a:avLst>
              <a:gd name="adj" fmla="val 8571"/>
            </a:avLst>
          </a:prstGeom>
          <a:solidFill>
            <a:srgbClr val="09151E"/>
          </a:solidFill>
          <a:ln w="12700">
            <a:solidFill>
              <a:srgbClr val="173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556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17190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投影畫面正常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1728216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五面牆、地板都有畫面；東小牆保持黑色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719072"/>
            <a:ext cx="0" cy="411480"/>
          </a:xfrm>
          <a:prstGeom prst="line">
            <a:avLst/>
          </a:prstGeom>
          <a:noFill/>
          <a:ln w="12700">
            <a:solidFill>
              <a:srgbClr val="1733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441448"/>
            <a:ext cx="10652760" cy="640080"/>
          </a:xfrm>
          <a:prstGeom prst="roundRect">
            <a:avLst>
              <a:gd name="adj" fmla="val 8571"/>
            </a:avLst>
          </a:prstGeom>
          <a:solidFill>
            <a:srgbClr val="09151E"/>
          </a:solidFill>
          <a:ln w="12700">
            <a:solidFill>
              <a:srgbClr val="173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587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25511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地板中央有 PLAY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待機時看得到綠色 PLAY，踩下會進教學或倒數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551176"/>
            <a:ext cx="0" cy="411480"/>
          </a:xfrm>
          <a:prstGeom prst="line">
            <a:avLst/>
          </a:prstGeom>
          <a:noFill/>
          <a:ln w="12700">
            <a:solidFill>
              <a:srgbClr val="1733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273552"/>
            <a:ext cx="10652760" cy="640080"/>
          </a:xfrm>
          <a:prstGeom prst="roundRect">
            <a:avLst>
              <a:gd name="adj" fmla="val 8571"/>
            </a:avLst>
          </a:prstGeom>
          <a:solidFill>
            <a:srgbClr val="09151E"/>
          </a:solidFill>
          <a:ln w="12700">
            <a:solidFill>
              <a:srgbClr val="173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4198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83080" y="3383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教學會同步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3392424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四面主牆同時換頁，地板顯示 CONTINUE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383280"/>
            <a:ext cx="0" cy="411480"/>
          </a:xfrm>
          <a:prstGeom prst="line">
            <a:avLst/>
          </a:prstGeom>
          <a:noFill/>
          <a:ln w="12700">
            <a:solidFill>
              <a:srgbClr val="1733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105656"/>
            <a:ext cx="10652760" cy="640080"/>
          </a:xfrm>
          <a:prstGeom prst="roundRect">
            <a:avLst>
              <a:gd name="adj" fmla="val 8571"/>
            </a:avLst>
          </a:prstGeom>
          <a:solidFill>
            <a:srgbClr val="09151E"/>
          </a:solidFill>
          <a:ln w="12700">
            <a:solidFill>
              <a:srgbClr val="173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2519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0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42153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倒數會出現 3・2・1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4224528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三秒倒數期間不應能操作棋盤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4215384"/>
            <a:ext cx="0" cy="411480"/>
          </a:xfrm>
          <a:prstGeom prst="line">
            <a:avLst/>
          </a:prstGeom>
          <a:noFill/>
          <a:ln w="12700">
            <a:solidFill>
              <a:srgbClr val="1733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937760"/>
            <a:ext cx="10652760" cy="640080"/>
          </a:xfrm>
          <a:prstGeom prst="roundRect">
            <a:avLst>
              <a:gd name="adj" fmla="val 8571"/>
            </a:avLst>
          </a:prstGeom>
          <a:solidFill>
            <a:srgbClr val="09151E"/>
          </a:solidFill>
          <a:ln w="12700">
            <a:solidFill>
              <a:srgbClr val="1733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0840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174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83080" y="50474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結束畫面看得懂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17720" y="5056632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勝利顯示 CLEAR；時間到顯示 TIME OUT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43400" y="5047488"/>
            <a:ext cx="0" cy="411480"/>
          </a:xfrm>
          <a:prstGeom prst="line">
            <a:avLst/>
          </a:prstGeom>
          <a:noFill/>
          <a:ln w="12700">
            <a:solidFill>
              <a:srgbClr val="1733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37360" y="5925312"/>
            <a:ext cx="8732520" cy="256032"/>
          </a:xfrm>
          <a:prstGeom prst="roundRect">
            <a:avLst>
              <a:gd name="adj" fmla="val 21429"/>
            </a:avLst>
          </a:prstGeom>
          <a:solidFill>
            <a:srgbClr val="0C2423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0240" y="5943600"/>
            <a:ext cx="8366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READY CHECK COMPLETE  →  讓玩家進場</a:t>
            </a:r>
            <a:endParaRPr lang="en-US" sz="9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  <a:ln w="12700">
            <a:solidFill>
              <a:srgbClr val="0507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AUDIO / 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如果要加入音效與音樂，檔案這樣給我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88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最簡單：把音檔放進專案資料夾，或直接在對話中上傳。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09151E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建議資料夾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423160"/>
            <a:ext cx="4572000" cy="2057400"/>
          </a:xfrm>
          <a:prstGeom prst="roundRect">
            <a:avLst>
              <a:gd name="adj" fmla="val 2667"/>
            </a:avLst>
          </a:prstGeom>
          <a:solidFill>
            <a:srgbClr val="050A0F"/>
          </a:solidFill>
          <a:ln w="12700">
            <a:solidFill>
              <a:srgbClr val="173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651760"/>
            <a:ext cx="3977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assets/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 audio/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├─ bgm_game.mp3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├─ sfx_select.wav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├─ sfx_scan.wav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├─ sfx_mark.wav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├─ sfx_mine.wav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├─ sfx_timeout.wav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A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└─ sfx_clear.wav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9560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檔名清楚即可，不需要先改程式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03520" cy="1115568"/>
          </a:xfrm>
          <a:prstGeom prst="roundRect">
            <a:avLst>
              <a:gd name="adj" fmla="val 4918"/>
            </a:avLst>
          </a:prstGeom>
          <a:solidFill>
            <a:srgbClr val="0B2029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47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9FF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直接上傳音檔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2402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mp3 / wav / ogg 都可以先提供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5303520" cy="1115568"/>
          </a:xfrm>
          <a:prstGeom prst="roundRect">
            <a:avLst>
              <a:gd name="adj" fmla="val 4918"/>
            </a:avLst>
          </a:prstGeom>
          <a:solidFill>
            <a:srgbClr val="0B182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17296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告訴我每個檔案要在哪時播放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5661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例如：踩到雷、插旗、倒數、TIME 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4251960"/>
            <a:ext cx="5303520" cy="1783080"/>
          </a:xfrm>
          <a:prstGeom prst="roundRect">
            <a:avLst>
              <a:gd name="adj" fmla="val 3077"/>
            </a:avLst>
          </a:prstGeom>
          <a:solidFill>
            <a:srgbClr val="15101B"/>
          </a:solidFill>
          <a:ln w="12700">
            <a:solidFill>
              <a:srgbClr val="FF2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4988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2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如果有音量／循環需求也一起寫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91947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BGM 是否循環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音效音量是否比音樂大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是否需要淡入／淡出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C"/>
          </a:solidFill>
          <a:ln w="12700">
            <a:solidFill>
              <a:srgbClr val="0507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ONE-PAGE SUMMARY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一張圖記住整套玩法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88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玩家只要記住這條循環：選模式 → 摸格子 → 看數字 → 再判斷。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44200" cy="914400"/>
          </a:xfrm>
          <a:prstGeom prst="roundRect">
            <a:avLst>
              <a:gd name="adj" fmla="val 6000"/>
            </a:avLst>
          </a:prstGeom>
          <a:solidFill>
            <a:srgbClr val="0B2029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568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9FF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踩地板選模式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16352" y="2103120"/>
            <a:ext cx="68580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657600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FF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摸牆執行動作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63640" y="2103120"/>
            <a:ext cx="68580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086600" y="195681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2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看數字／結果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464040" y="2103120"/>
            <a:ext cx="685800" cy="0"/>
          </a:xfrm>
          <a:prstGeom prst="line">
            <a:avLst/>
          </a:prstGeom>
          <a:noFill/>
          <a:ln w="25400">
            <a:solidFill>
              <a:srgbClr val="00FFE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104120" y="195681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繼續判斷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063240"/>
            <a:ext cx="2468880" cy="2011680"/>
          </a:xfrm>
          <a:prstGeom prst="roundRect">
            <a:avLst>
              <a:gd name="adj" fmla="val 2727"/>
            </a:avLst>
          </a:prstGeom>
          <a:solidFill>
            <a:srgbClr val="09151E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401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FF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4041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揭露安全格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6451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踩地板內圈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38728" y="3063240"/>
            <a:ext cx="2468880" cy="2011680"/>
          </a:xfrm>
          <a:prstGeom prst="roundRect">
            <a:avLst>
              <a:gd name="adj" fmla="val 2727"/>
            </a:avLst>
          </a:prstGeom>
          <a:solidFill>
            <a:srgbClr val="09151E"/>
          </a:solidFill>
          <a:ln w="12700">
            <a:solidFill>
              <a:srgbClr val="FF2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3401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2D8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MARK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21608" y="4041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標記懷疑的雷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21608" y="46451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踩地板外圈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0216" y="3063240"/>
            <a:ext cx="2468880" cy="2011680"/>
          </a:xfrm>
          <a:prstGeom prst="roundRect">
            <a:avLst>
              <a:gd name="adj" fmla="val 2727"/>
            </a:avLst>
          </a:prstGeom>
          <a:solidFill>
            <a:srgbClr val="09151E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096" y="3401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0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PAUSE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83096" y="4041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暫停／繼續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83096" y="46451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踩下方 PAUSE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61704" y="3063240"/>
            <a:ext cx="2468880" cy="2011680"/>
          </a:xfrm>
          <a:prstGeom prst="roundRect">
            <a:avLst>
              <a:gd name="adj" fmla="val 2727"/>
            </a:avLst>
          </a:prstGeom>
          <a:solidFill>
            <a:srgbClr val="09151E"/>
          </a:solidFill>
          <a:ln w="12700">
            <a:solidFill>
              <a:srgbClr val="00FF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44584" y="3401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目標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44584" y="4041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揭露所有非雷格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44584" y="46451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1AE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過關 CLEAR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71600" y="5532120"/>
            <a:ext cx="9418320" cy="502920"/>
          </a:xfrm>
          <a:prstGeom prst="roundRect">
            <a:avLst>
              <a:gd name="adj" fmla="val 10909"/>
            </a:avLst>
          </a:prstGeom>
          <a:solidFill>
            <a:srgbClr val="271416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56509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8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時間到 → TIME OUT　　 踩雷 → FREEZE　　 過關 → CLEAR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4616D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70B4C7F-C27B-57A7-BB30-B6C2F3F4861D}"/>
              </a:ext>
            </a:extLst>
          </p:cNvPr>
          <p:cNvSpPr txBox="1"/>
          <p:nvPr/>
        </p:nvSpPr>
        <p:spPr>
          <a:xfrm>
            <a:off x="6985" y="3556"/>
            <a:ext cx="76200" cy="29238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TW" sz="800" b="1">
                <a:solidFill>
                  <a:srgbClr val="00FFE5"/>
                </a:solidFill>
                <a:latin typeface="Aptos Mono" panose="020B0009020202020204" pitchFamily="49" charset="0"/>
              </a:rPr>
              <a:t>OPERATOR / EXTRA FUNCTIONS</a:t>
            </a:r>
            <a:endParaRPr lang="zh-TW" altLang="en-US" sz="800" b="1">
              <a:solidFill>
                <a:srgbClr val="00FFE5"/>
              </a:solidFill>
              <a:latin typeface="Aptos Mono" panose="020B000902020202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613C890-D626-A4EC-24FA-720A7FC5E83A}"/>
              </a:ext>
            </a:extLst>
          </p:cNvPr>
          <p:cNvSpPr txBox="1"/>
          <p:nvPr/>
        </p:nvSpPr>
        <p:spPr>
          <a:xfrm>
            <a:off x="6985" y="7366"/>
            <a:ext cx="152400" cy="470898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TW" altLang="en-US" sz="2500" b="1">
                <a:solidFill>
                  <a:srgbClr val="EAF8FA"/>
                </a:solidFill>
                <a:latin typeface="Microsoft JhengHei" panose="020B0604030504040204" pitchFamily="34" charset="-120"/>
              </a:rPr>
              <a:t>工作人員才需要使用的功能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9EAA177-D911-21C4-13BA-462BCD12E726}"/>
              </a:ext>
            </a:extLst>
          </p:cNvPr>
          <p:cNvSpPr txBox="1"/>
          <p:nvPr/>
        </p:nvSpPr>
        <p:spPr>
          <a:xfrm>
            <a:off x="7366" y="257487"/>
            <a:ext cx="148590" cy="413190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TW" altLang="en-US" sz="1050">
                <a:solidFill>
                  <a:srgbClr val="91AEB8"/>
                </a:solidFill>
                <a:latin typeface="Microsoft JhengHei" panose="020B0604030504040204" pitchFamily="34" charset="-120"/>
              </a:rPr>
              <a:t>玩家只需要看牆面與踩地板；以下功能用於投影、設定與校正。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84CC942-4F3C-2480-3BE5-E0AD92EE35A3}"/>
              </a:ext>
            </a:extLst>
          </p:cNvPr>
          <p:cNvSpPr/>
          <p:nvPr/>
        </p:nvSpPr>
        <p:spPr>
          <a:xfrm>
            <a:off x="9525" y="23495"/>
            <a:ext cx="72644" cy="24765"/>
          </a:xfrm>
          <a:prstGeom prst="roundRect">
            <a:avLst/>
          </a:prstGeom>
          <a:solidFill>
            <a:srgbClr val="09141E"/>
          </a:solidFill>
          <a:ln w="1778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E11F623-8120-BE43-0E98-FCCE3220BBE4}"/>
              </a:ext>
            </a:extLst>
          </p:cNvPr>
          <p:cNvSpPr txBox="1"/>
          <p:nvPr/>
        </p:nvSpPr>
        <p:spPr>
          <a:xfrm>
            <a:off x="12827" y="72201"/>
            <a:ext cx="15875" cy="135421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TW" sz="800" b="1">
                <a:solidFill>
                  <a:srgbClr val="00FFE5"/>
                </a:solidFill>
                <a:latin typeface="Aptos Mono" panose="020B0009020202020204" pitchFamily="49" charset="0"/>
              </a:rPr>
              <a:t>01  BROADCAST</a:t>
            </a:r>
            <a:endParaRPr lang="zh-TW" altLang="en-US" sz="800" b="1">
              <a:solidFill>
                <a:srgbClr val="00FFE5"/>
              </a:solidFill>
              <a:latin typeface="Aptos Mono" panose="020B0009020202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DC2EDA9-7F5D-5B06-6C04-AE906D0AD6D9}"/>
              </a:ext>
            </a:extLst>
          </p:cNvPr>
          <p:cNvSpPr txBox="1"/>
          <p:nvPr/>
        </p:nvSpPr>
        <p:spPr>
          <a:xfrm>
            <a:off x="12827" y="76773"/>
            <a:ext cx="66040" cy="209288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TW" altLang="en-US" sz="1700" b="1">
                <a:solidFill>
                  <a:srgbClr val="EAF8FA"/>
                </a:solidFill>
                <a:latin typeface="Microsoft JhengHei" panose="020B0604030504040204" pitchFamily="34" charset="-120"/>
              </a:rPr>
              <a:t>投播到哪個螢幕？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3CE8C1A-3E45-8C35-FEF0-55B2E1388758}"/>
              </a:ext>
            </a:extLst>
          </p:cNvPr>
          <p:cNvSpPr txBox="1"/>
          <p:nvPr/>
        </p:nvSpPr>
        <p:spPr>
          <a:xfrm>
            <a:off x="12827" y="37211"/>
            <a:ext cx="66040" cy="10864513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按 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BROADCAST → 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選擇：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\n• 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視窗模式：給 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OBS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／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NDI 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擷取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\n• 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自動 → 第二螢幕：全螢幕投影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\n• STOP_BROADCAST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：關閉投影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C5DBD78-6F82-7D3A-A535-6E591DFD6B0F}"/>
              </a:ext>
            </a:extLst>
          </p:cNvPr>
          <p:cNvSpPr/>
          <p:nvPr/>
        </p:nvSpPr>
        <p:spPr>
          <a:xfrm>
            <a:off x="86995" y="23495"/>
            <a:ext cx="72644" cy="24765"/>
          </a:xfrm>
          <a:prstGeom prst="roundRect">
            <a:avLst/>
          </a:prstGeom>
          <a:solidFill>
            <a:srgbClr val="09141E"/>
          </a:solidFill>
          <a:ln w="17780"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FCBEE3A-5F8D-AEA6-382F-A8D9F53CF996}"/>
              </a:ext>
            </a:extLst>
          </p:cNvPr>
          <p:cNvSpPr txBox="1"/>
          <p:nvPr/>
        </p:nvSpPr>
        <p:spPr>
          <a:xfrm>
            <a:off x="90297" y="72201"/>
            <a:ext cx="15875" cy="135421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TW" sz="800" b="1">
                <a:solidFill>
                  <a:srgbClr val="39FF14"/>
                </a:solidFill>
                <a:latin typeface="Aptos Mono" panose="020B0009020202020204" pitchFamily="49" charset="0"/>
              </a:rPr>
              <a:t>02  GAME SETUP</a:t>
            </a:r>
            <a:endParaRPr lang="zh-TW" altLang="en-US" sz="800" b="1">
              <a:solidFill>
                <a:srgbClr val="39FF14"/>
              </a:solidFill>
              <a:latin typeface="Aptos Mono" panose="020B0009020202020204" pitchFamily="49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7BADA98-BDCC-194E-C35E-4453C9F90D37}"/>
              </a:ext>
            </a:extLst>
          </p:cNvPr>
          <p:cNvSpPr txBox="1"/>
          <p:nvPr/>
        </p:nvSpPr>
        <p:spPr>
          <a:xfrm>
            <a:off x="90297" y="76773"/>
            <a:ext cx="66040" cy="183127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TW" altLang="en-US" sz="1700" b="1">
                <a:solidFill>
                  <a:srgbClr val="EAF8FA"/>
                </a:solidFill>
                <a:latin typeface="Microsoft JhengHei" panose="020B0604030504040204" pitchFamily="34" charset="-120"/>
              </a:rPr>
              <a:t>每局開始前設定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CAE884A-72CD-8BDB-C51C-BF4310ED9612}"/>
              </a:ext>
            </a:extLst>
          </p:cNvPr>
          <p:cNvSpPr txBox="1"/>
          <p:nvPr/>
        </p:nvSpPr>
        <p:spPr>
          <a:xfrm>
            <a:off x="90297" y="37211"/>
            <a:ext cx="66040" cy="809452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每局播放教學：開／關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\n• 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啟用上限時間：設定 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HH:MM:SS\n• 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按 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APPLY 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套用；遊戲進行中不能修改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8D2ACB0-C48E-E06D-4C51-AEB87693F2D2}"/>
              </a:ext>
            </a:extLst>
          </p:cNvPr>
          <p:cNvSpPr/>
          <p:nvPr/>
        </p:nvSpPr>
        <p:spPr>
          <a:xfrm>
            <a:off x="9525" y="51435"/>
            <a:ext cx="72644" cy="24765"/>
          </a:xfrm>
          <a:prstGeom prst="roundRect">
            <a:avLst/>
          </a:prstGeom>
          <a:solidFill>
            <a:srgbClr val="09141E"/>
          </a:solidFill>
          <a:ln w="17780">
            <a:solidFill>
              <a:srgbClr val="FFB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A762BCD-1B4D-B952-9C44-30AB8687DBB0}"/>
              </a:ext>
            </a:extLst>
          </p:cNvPr>
          <p:cNvSpPr txBox="1"/>
          <p:nvPr/>
        </p:nvSpPr>
        <p:spPr>
          <a:xfrm>
            <a:off x="12827" y="100141"/>
            <a:ext cx="15875" cy="73866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TW" sz="800" b="1">
                <a:solidFill>
                  <a:srgbClr val="FFB000"/>
                </a:solidFill>
                <a:latin typeface="Aptos Mono" panose="020B0009020202020204" pitchFamily="49" charset="0"/>
              </a:rPr>
              <a:t>03  LOCK</a:t>
            </a:r>
            <a:endParaRPr lang="zh-TW" altLang="en-US" sz="800" b="1">
              <a:solidFill>
                <a:srgbClr val="FFB000"/>
              </a:solidFill>
              <a:latin typeface="Aptos Mono" panose="020B0009020202020204" pitchFamily="49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234EAAF-41AD-2BE6-C3AC-543C2B0C4908}"/>
              </a:ext>
            </a:extLst>
          </p:cNvPr>
          <p:cNvSpPr txBox="1"/>
          <p:nvPr/>
        </p:nvSpPr>
        <p:spPr>
          <a:xfrm>
            <a:off x="12827" y="104713"/>
            <a:ext cx="66040" cy="156966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TW" altLang="en-US" sz="1700" b="1">
                <a:solidFill>
                  <a:srgbClr val="EAF8FA"/>
                </a:solidFill>
                <a:latin typeface="Microsoft JhengHei" panose="020B0604030504040204" pitchFamily="34" charset="-120"/>
              </a:rPr>
              <a:t>感應校正模式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E649188-261E-961B-1F1B-0EC830FFDF68}"/>
              </a:ext>
            </a:extLst>
          </p:cNvPr>
          <p:cNvSpPr txBox="1"/>
          <p:nvPr/>
        </p:nvSpPr>
        <p:spPr>
          <a:xfrm>
            <a:off x="12827" y="65151"/>
            <a:ext cx="66040" cy="809452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用於現場檢查感應格對應是否正確。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\n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開啟 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LOCK 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後點選格子，完成後 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CLEAR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。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\n※ 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正式遊戲中不要開啟。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47BB89C2-F196-B51F-36FC-D122FD3DECCB}"/>
              </a:ext>
            </a:extLst>
          </p:cNvPr>
          <p:cNvSpPr/>
          <p:nvPr/>
        </p:nvSpPr>
        <p:spPr>
          <a:xfrm>
            <a:off x="86995" y="51435"/>
            <a:ext cx="72644" cy="24765"/>
          </a:xfrm>
          <a:prstGeom prst="roundRect">
            <a:avLst/>
          </a:prstGeom>
          <a:solidFill>
            <a:srgbClr val="09141E"/>
          </a:solidFill>
          <a:ln w="17780">
            <a:solidFill>
              <a:srgbClr val="FF2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94CF0A3-A035-5311-41D1-251D1A9101A2}"/>
              </a:ext>
            </a:extLst>
          </p:cNvPr>
          <p:cNvSpPr txBox="1"/>
          <p:nvPr/>
        </p:nvSpPr>
        <p:spPr>
          <a:xfrm>
            <a:off x="90297" y="100141"/>
            <a:ext cx="15875" cy="98488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TW" sz="800" b="1">
                <a:solidFill>
                  <a:srgbClr val="FF2D8F"/>
                </a:solidFill>
                <a:latin typeface="Aptos Mono" panose="020B0009020202020204" pitchFamily="49" charset="0"/>
              </a:rPr>
              <a:t>04  TWEAKS</a:t>
            </a:r>
            <a:endParaRPr lang="zh-TW" altLang="en-US" sz="800" b="1">
              <a:solidFill>
                <a:srgbClr val="FF2D8F"/>
              </a:solidFill>
              <a:latin typeface="Aptos Mono" panose="020B00090202020202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7437C8B-9A3B-8ACE-6CFD-75850210F145}"/>
              </a:ext>
            </a:extLst>
          </p:cNvPr>
          <p:cNvSpPr txBox="1"/>
          <p:nvPr/>
        </p:nvSpPr>
        <p:spPr>
          <a:xfrm>
            <a:off x="90297" y="58547"/>
            <a:ext cx="66040" cy="244682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zh-TW" altLang="en-US" sz="1700" b="1">
                <a:solidFill>
                  <a:srgbClr val="EAF8FA"/>
                </a:solidFill>
                <a:latin typeface="Microsoft JhengHei" panose="020B0604030504040204" pitchFamily="34" charset="-120"/>
              </a:rPr>
              <a:t>只改視覺，不改規則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3994CE7-F893-D263-88BA-D1606007CD7D}"/>
              </a:ext>
            </a:extLst>
          </p:cNvPr>
          <p:cNvSpPr txBox="1"/>
          <p:nvPr/>
        </p:nvSpPr>
        <p:spPr>
          <a:xfrm>
            <a:off x="90297" y="65151"/>
            <a:ext cx="66040" cy="9941183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PALETTE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：配色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\nCELL STYLE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：格子樣式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\nSCAN LINES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／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VIGNETTE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：背景效果</a:t>
            </a:r>
            <a:r>
              <a:rPr lang="en-US" altLang="zh-TW" sz="1000">
                <a:solidFill>
                  <a:srgbClr val="91AEB8"/>
                </a:solidFill>
                <a:latin typeface="Microsoft JhengHei" panose="020B0604030504040204" pitchFamily="34" charset="-120"/>
              </a:rPr>
              <a:t>\n</a:t>
            </a:r>
            <a:r>
              <a:rPr lang="zh-TW" altLang="en-US" sz="1000">
                <a:solidFill>
                  <a:srgbClr val="91AEB8"/>
                </a:solidFill>
                <a:latin typeface="Microsoft JhengHei" panose="020B0604030504040204" pitchFamily="34" charset="-120"/>
              </a:rPr>
              <a:t>設定會同步到投影視窗。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948ED7F-3CC9-17B8-481D-7B27D002B432}"/>
              </a:ext>
            </a:extLst>
          </p:cNvPr>
          <p:cNvSpPr/>
          <p:nvPr/>
        </p:nvSpPr>
        <p:spPr>
          <a:xfrm>
            <a:off x="17780" y="81534"/>
            <a:ext cx="133985" cy="5334"/>
          </a:xfrm>
          <a:prstGeom prst="roundRect">
            <a:avLst/>
          </a:prstGeom>
          <a:solidFill>
            <a:srgbClr val="14272F"/>
          </a:solidFill>
          <a:ln>
            <a:solidFill>
              <a:srgbClr val="204F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9DF8F2B-C937-6EE7-34D9-CFEA287CD67D}"/>
              </a:ext>
            </a:extLst>
          </p:cNvPr>
          <p:cNvSpPr txBox="1"/>
          <p:nvPr/>
        </p:nvSpPr>
        <p:spPr>
          <a:xfrm>
            <a:off x="20574" y="82423"/>
            <a:ext cx="128270" cy="364715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zh-TW" altLang="en-US" sz="1100" b="1">
                <a:solidFill>
                  <a:srgbClr val="FFB000"/>
                </a:solidFill>
                <a:latin typeface="Microsoft JhengHei" panose="020B0604030504040204" pitchFamily="34" charset="-120"/>
              </a:rPr>
              <a:t>這些按鈕是工作人員工具，不是玩家遊戲規則。</a:t>
            </a:r>
          </a:p>
        </p:txBody>
      </p:sp>
    </p:spTree>
    <p:extLst>
      <p:ext uri="{BB962C8B-B14F-4D97-AF65-F5344CB8AC3E}">
        <p14:creationId xmlns:p14="http://schemas.microsoft.com/office/powerpoint/2010/main" val="2503528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</Words>
  <Application>Microsoft Office PowerPoint</Application>
  <PresentationFormat>寬螢幕</PresentationFormat>
  <Paragraphs>242</Paragraphs>
  <Slides>12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Microsoft JhengHei</vt:lpstr>
      <vt:lpstr>Aptos Mono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CyberCube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704 Minesweeper｜一看就會操作</dc:title>
  <dc:subject>玩家與現場營運直覺操作說明</dc:subject>
  <dc:creator>704 Minesweeper</dc:creator>
  <cp:lastModifiedBy>MOMO UANG</cp:lastModifiedBy>
  <cp:revision>2</cp:revision>
  <dcterms:created xsi:type="dcterms:W3CDTF">2026-09-01T02:35:01Z</dcterms:created>
  <dcterms:modified xsi:type="dcterms:W3CDTF">2026-09-01T02:38:52Z</dcterms:modified>
</cp:coreProperties>
</file>