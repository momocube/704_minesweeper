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D2D"/>
    <a:srgbClr val="39FF14"/>
    <a:srgbClr val="FF2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A1FF9B-D6BE-46F0-BA85-1EF492E9F901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99012-F351-4474-8304-69DFB4CF4F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3622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99012-F351-4474-8304-69DFB4CF4FA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7203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99012-F351-4474-8304-69DFB4CF4FA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2655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99012-F351-4474-8304-69DFB4CF4FA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7487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578BC4-880D-F222-1033-68B1D2A71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6986A5-1489-2563-2D0E-501D566E0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30B297-01AB-27FE-9EDD-62979541E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7CBA-F1CB-45DC-BE3A-780208CF9AD0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21685A4-E6A6-A8BF-791E-28B6420CB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404C6F-A7FE-19E2-CF62-2D6F3BF4A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7502-CC38-4105-A310-9994A6B143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248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0F13C3-4FA8-C0FE-3EA4-977FC55B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29299C-354F-8D7D-7F66-87129F89A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ECEF1E-782A-F886-B58D-A76A6F9B5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7CBA-F1CB-45DC-BE3A-780208CF9AD0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4EBD24-4FB1-1E6F-30E2-08475BE7C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F378F8-059C-D9B4-5D68-654420C5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7502-CC38-4105-A310-9994A6B143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735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534A4-D141-A91A-5012-1F7D33B37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A3AFDB0-1DCA-BD77-E69B-EEAFBA8F9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D5D54EA-6A0C-D03E-5D3E-AA57BBD2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7CBA-F1CB-45DC-BE3A-780208CF9AD0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27C9B4-2A28-AE2A-15B5-C3C535443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0EDD3EC-526E-28A7-0C27-644E0E5F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7502-CC38-4105-A310-9994A6B143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976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DD5E76-1F15-5DA3-8BF3-7B9BC4A4E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8E4013-6015-79E6-25C1-FC02FA329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ACC75AD-7AED-A84E-D82F-C647D96D0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4F5B34-F4F5-5B7C-3EBB-7F3A5F96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7CBA-F1CB-45DC-BE3A-780208CF9AD0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DE31DFC-6BAC-E5DC-8B1C-73DAB50B8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35F31A-6D01-EC54-7D3D-B024028C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7502-CC38-4105-A310-9994A6B143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125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D39486-1D64-A2E5-294A-51FBDC79B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B659457-2CFD-FBF0-E61C-23C2DAA64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A2EDD5E-4F11-E17D-DBE1-E4CD82189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EFA15D4-B53E-6055-76F9-B93D7C926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A25C2F4-3C67-9111-B0D1-4F187CE55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E9F6D93-8A31-8485-6CD3-48561784D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7CBA-F1CB-45DC-BE3A-780208CF9AD0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C7252D2-F622-1116-F035-CC5EBAC2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6A52E5D-A1F1-BA4E-B2BD-E36446D7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7502-CC38-4105-A310-9994A6B143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3461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1C3CBF-7428-E6A6-4420-AEA8FC971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0BA1D72-EE30-9086-84A1-E36559CEF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7CBA-F1CB-45DC-BE3A-780208CF9AD0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42CDD32-5D95-EE63-A184-B91C17AC7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51CCA91-0138-A7FB-AE7C-946DB2AF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7502-CC38-4105-A310-9994A6B143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178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F6978C9-725F-95FA-D57A-F2D8F4182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7CBA-F1CB-45DC-BE3A-780208CF9AD0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F2E9EC1-EFF5-5A2F-EC58-4B1359DC2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DF803C-D71F-4B3F-2879-A82072D8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7502-CC38-4105-A310-9994A6B143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715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737CB7-5A35-907F-4117-E29839DB2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9E0E1F-6848-D9D2-FF33-10AC5D04E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19CD1F1-144D-2CD0-DD6D-EEC268971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F66108-0244-7A5A-8BCE-CBDBA16B7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7CBA-F1CB-45DC-BE3A-780208CF9AD0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0A72018-3EFA-9855-9613-135DFEB0D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A174A44-E81B-9BDF-75E8-0D84C3DB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7502-CC38-4105-A310-9994A6B143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2755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BB37EE-B218-60C3-E7F2-DAC182E85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211F8AF-3DA3-32AA-82D3-A73D68013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463A62C-4281-4313-7580-AEF9C6B24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E50B7ED-28C8-04E3-011A-E81E21D8C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7CBA-F1CB-45DC-BE3A-780208CF9AD0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F1BCD80-427A-2816-E978-4D98B74B9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8BCE97-3A09-D6BC-3C23-38496C05F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7502-CC38-4105-A310-9994A6B143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8287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953D91-B964-8EC8-0E0B-CE156D0B8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389608F-6752-DC2E-9AE2-AE8AEB4EE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6AD6AA-3CC9-1A75-D871-5B90AA621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7CBA-F1CB-45DC-BE3A-780208CF9AD0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72B750-895F-B2D9-7592-037F30271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71AC9C-D9A0-4B91-5ECB-B603BE0F6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7502-CC38-4105-A310-9994A6B143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1377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0F0249D-23C1-829C-A565-0F43E03064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E25728B-2311-8B7D-AFCA-2F4126F61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CF0E5F-1F60-67E5-E636-0E7B624A8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7CBA-F1CB-45DC-BE3A-780208CF9AD0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E5B9F6-67F7-4740-2266-01CE65B76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046705-8FE0-319F-9D54-786ED2821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7502-CC38-4105-A310-9994A6B143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2680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C6DE5BF-1D0C-095D-B34B-55F6C9B9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AC9412-C47E-B90C-ACBD-D85A5BE91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1D68E6-EDA8-F799-B0B1-B355D8E17F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07CBA-F1CB-45DC-BE3A-780208CF9AD0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86B1F1-3F5B-C2DB-07DA-ADF2ADC14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74DFE3-3C36-8345-DE8F-268F59D5C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9E7502-CC38-4105-A310-9994A6B143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7074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699890D-24DB-7206-3370-34FCDBEDC4C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7AAD85E-9825-95EC-478C-C6CA5D6C87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60A">
              <a:alpha val="7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68975-E8B6-9010-E667-CA18A874E620}"/>
              </a:ext>
            </a:extLst>
          </p:cNvPr>
          <p:cNvSpPr/>
          <p:nvPr/>
        </p:nvSpPr>
        <p:spPr>
          <a:xfrm>
            <a:off x="0" y="-69850"/>
            <a:ext cx="6604000" cy="6858000"/>
          </a:xfrm>
          <a:prstGeom prst="rect">
            <a:avLst/>
          </a:prstGeom>
          <a:solidFill>
            <a:srgbClr val="04060A">
              <a:alpha val="9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214426-1A1D-E7BC-B2DE-785C0FC037FF}"/>
              </a:ext>
            </a:extLst>
          </p:cNvPr>
          <p:cNvSpPr/>
          <p:nvPr/>
        </p:nvSpPr>
        <p:spPr>
          <a:xfrm>
            <a:off x="533400" y="723900"/>
            <a:ext cx="152400" cy="5270500"/>
          </a:xfrm>
          <a:prstGeom prst="rect">
            <a:avLst/>
          </a:prstGeom>
          <a:solidFill>
            <a:srgbClr val="00FF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3182AB1-0416-A61C-D504-4916E4037508}"/>
              </a:ext>
            </a:extLst>
          </p:cNvPr>
          <p:cNvSpPr txBox="1"/>
          <p:nvPr/>
        </p:nvSpPr>
        <p:spPr>
          <a:xfrm>
            <a:off x="1041400" y="1092200"/>
            <a:ext cx="508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500" b="1" dirty="0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// NANGANG_CYBERCUBE · 704</a:t>
            </a:r>
            <a:endParaRPr lang="zh-TW" altLang="en-US" sz="1500" b="1" dirty="0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C5B55CF-C0C6-9B1C-78A2-FDFF6B24DF0A}"/>
              </a:ext>
            </a:extLst>
          </p:cNvPr>
          <p:cNvSpPr txBox="1"/>
          <p:nvPr/>
        </p:nvSpPr>
        <p:spPr>
          <a:xfrm>
            <a:off x="952499" y="1587500"/>
            <a:ext cx="4398433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8800" b="1" dirty="0">
                <a:solidFill>
                  <a:srgbClr val="00FFE5"/>
                </a:solidFill>
                <a:latin typeface="Bahnschrift" panose="020B0502040204020203" pitchFamily="34" charset="0"/>
                <a:ea typeface="Microsoft JhengHei UI" panose="020B0604030504040204" pitchFamily="34" charset="-120"/>
              </a:rPr>
              <a:t>光域</a:t>
            </a:r>
            <a:r>
              <a:rPr lang="en-US" altLang="zh-TW" sz="8800" b="1" dirty="0">
                <a:solidFill>
                  <a:srgbClr val="00FFE5"/>
                </a:solidFill>
                <a:latin typeface="Bahnschrift" panose="020B0502040204020203" pitchFamily="34" charset="0"/>
                <a:ea typeface="Microsoft JhengHei UI" panose="020B0604030504040204" pitchFamily="34" charset="-120"/>
              </a:rPr>
              <a:t>704</a:t>
            </a:r>
            <a:endParaRPr lang="zh-TW" altLang="en-US" sz="8800" b="1" dirty="0">
              <a:solidFill>
                <a:srgbClr val="00FFE5"/>
              </a:solidFill>
              <a:latin typeface="Bahnschrift" panose="020B0502040204020203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7CF1DC5-1DE8-0E2B-95BE-DE88693FFC10}"/>
              </a:ext>
            </a:extLst>
          </p:cNvPr>
          <p:cNvSpPr txBox="1"/>
          <p:nvPr/>
        </p:nvSpPr>
        <p:spPr>
          <a:xfrm>
            <a:off x="1041400" y="2997200"/>
            <a:ext cx="8509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4500" b="1" dirty="0">
                <a:solidFill>
                  <a:srgbClr val="E8F9FC"/>
                </a:solidFill>
                <a:latin typeface="Bahnschrift" panose="020B0502040204020203" pitchFamily="34" charset="0"/>
                <a:ea typeface="Microsoft JhengHei UI" panose="020B0604030504040204" pitchFamily="34" charset="-120"/>
              </a:rPr>
              <a:t>MINESWEEPER</a:t>
            </a:r>
            <a:r>
              <a:rPr lang="zh-TW" altLang="en-US" sz="4500" b="1" dirty="0">
                <a:solidFill>
                  <a:srgbClr val="E8F9FC"/>
                </a:solidFill>
                <a:latin typeface="Bahnschrift" panose="020B0502040204020203" pitchFamily="34" charset="0"/>
                <a:ea typeface="Microsoft JhengHei UI" panose="020B0604030504040204" pitchFamily="34" charset="-120"/>
              </a:rPr>
              <a:t> 踩地雷遊戲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393D96E-4765-CCB4-8095-A19FD05FFDB1}"/>
              </a:ext>
            </a:extLst>
          </p:cNvPr>
          <p:cNvSpPr txBox="1"/>
          <p:nvPr/>
        </p:nvSpPr>
        <p:spPr>
          <a:xfrm>
            <a:off x="1041400" y="4005257"/>
            <a:ext cx="6477000" cy="75918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30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營運操作與遊戲規則</a:t>
            </a:r>
            <a:endParaRPr lang="en-US" altLang="zh-TW" sz="3000" b="1" dirty="0">
              <a:solidFill>
                <a:srgbClr val="FF2D8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sz="16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閃動格子南港旗艦概念館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2BD7F9D-74A6-DC49-57AE-E74A0F8D743B}"/>
              </a:ext>
            </a:extLst>
          </p:cNvPr>
          <p:cNvSpPr/>
          <p:nvPr/>
        </p:nvSpPr>
        <p:spPr>
          <a:xfrm>
            <a:off x="1117600" y="5080000"/>
            <a:ext cx="2667000" cy="482600"/>
          </a:xfrm>
          <a:prstGeom prst="roundRect">
            <a:avLst/>
          </a:prstGeom>
          <a:solidFill>
            <a:srgbClr val="080E16">
              <a:alpha val="97000"/>
            </a:srgbClr>
          </a:solidFill>
          <a:ln w="19050">
            <a:solidFill>
              <a:srgbClr val="00FF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BC9C74F-5F2A-0488-8D36-860ABCB09912}"/>
              </a:ext>
            </a:extLst>
          </p:cNvPr>
          <p:cNvSpPr txBox="1"/>
          <p:nvPr/>
        </p:nvSpPr>
        <p:spPr>
          <a:xfrm>
            <a:off x="1155700" y="5181600"/>
            <a:ext cx="2590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1500" b="1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VISUAL OPS GUIDE</a:t>
            </a:r>
            <a:endParaRPr lang="zh-TW" altLang="en-US" sz="1500" b="1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30FA923-D013-7771-E669-2A6544C0936D}"/>
              </a:ext>
            </a:extLst>
          </p:cNvPr>
          <p:cNvSpPr txBox="1"/>
          <p:nvPr/>
        </p:nvSpPr>
        <p:spPr>
          <a:xfrm>
            <a:off x="7370233" y="6242050"/>
            <a:ext cx="4708556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600" b="1" dirty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本操作手冊僅提供南港店營運人員使用，請勿外流</a:t>
            </a:r>
          </a:p>
        </p:txBody>
      </p:sp>
    </p:spTree>
    <p:extLst>
      <p:ext uri="{BB962C8B-B14F-4D97-AF65-F5344CB8AC3E}">
        <p14:creationId xmlns:p14="http://schemas.microsoft.com/office/powerpoint/2010/main" val="3822290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FEFFF1B-0593-9C02-82B6-AB67D8363A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60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6F8D43A-EF79-5781-F2DA-66752D19C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82" y="1972274"/>
            <a:ext cx="3604057" cy="4394058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653ED1F-4547-295A-7307-268B2E60A9DF}"/>
              </a:ext>
            </a:extLst>
          </p:cNvPr>
          <p:cNvSpPr txBox="1"/>
          <p:nvPr/>
        </p:nvSpPr>
        <p:spPr>
          <a:xfrm>
            <a:off x="431800" y="571500"/>
            <a:ext cx="10795000" cy="103618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遊戲後臺介面介紹 </a:t>
            </a:r>
            <a:r>
              <a:rPr lang="en-US" altLang="zh-TW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endParaRPr lang="en-US" altLang="zh-TW" sz="3200" b="1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sz="3200" b="1" dirty="0">
                <a:solidFill>
                  <a:srgbClr val="FF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打開</a:t>
            </a:r>
            <a:r>
              <a:rPr lang="en-US" altLang="zh-TW" sz="3200" b="1" dirty="0">
                <a:solidFill>
                  <a:srgbClr val="FF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704_Minesweeper.exe</a:t>
            </a:r>
            <a:endParaRPr lang="zh-TW" altLang="en-US" sz="3200" b="1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44EFC65-C101-E76A-21A0-2467E9E6F865}"/>
              </a:ext>
            </a:extLst>
          </p:cNvPr>
          <p:cNvSpPr txBox="1"/>
          <p:nvPr/>
        </p:nvSpPr>
        <p:spPr>
          <a:xfrm>
            <a:off x="3631666" y="5929396"/>
            <a:ext cx="3606437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TW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1. </a:t>
            </a:r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遊戲場域</a:t>
            </a:r>
            <a:endParaRPr lang="en-US" altLang="zh-TW" sz="2000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這個畫面 </a:t>
            </a:r>
            <a:r>
              <a:rPr lang="en-US" altLang="zh-TW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 704</a:t>
            </a:r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現場顯示的畫面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4DFE316-9E09-6555-85FA-BB541539B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67052"/>
            <a:ext cx="2720716" cy="2644370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FC245986-F304-5783-61A6-B0AC769A5A0D}"/>
              </a:ext>
            </a:extLst>
          </p:cNvPr>
          <p:cNvSpPr txBox="1"/>
          <p:nvPr/>
        </p:nvSpPr>
        <p:spPr>
          <a:xfrm>
            <a:off x="6239219" y="3754761"/>
            <a:ext cx="2720714" cy="17132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TW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2. </a:t>
            </a:r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風格顯示調整 </a:t>
            </a:r>
            <a:endParaRPr lang="en-US" altLang="zh-TW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由上往下說明</a:t>
            </a:r>
            <a:r>
              <a:rPr lang="en-US" altLang="zh-TW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顏色</a:t>
            </a:r>
            <a:endParaRPr lang="en-US" altLang="zh-TW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格子風格</a:t>
            </a:r>
            <a:endParaRPr lang="en-US" altLang="zh-TW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背景線條開關 </a:t>
            </a:r>
            <a:r>
              <a:rPr lang="en-US" altLang="zh-TW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不明顯</a:t>
            </a:r>
            <a:r>
              <a:rPr lang="en-US" altLang="zh-TW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陰影 </a:t>
            </a:r>
            <a:r>
              <a:rPr lang="en-US" altLang="zh-TW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不明顯</a:t>
            </a:r>
            <a:r>
              <a:rPr lang="en-US" altLang="zh-TW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D33CA787-86BA-8B0D-0859-3A721E7F2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9933" y="1109134"/>
            <a:ext cx="2942171" cy="2502288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13AE536C-B1A5-F64C-45C1-3B7DB4991ECB}"/>
              </a:ext>
            </a:extLst>
          </p:cNvPr>
          <p:cNvSpPr txBox="1"/>
          <p:nvPr/>
        </p:nvSpPr>
        <p:spPr>
          <a:xfrm>
            <a:off x="9156718" y="3852333"/>
            <a:ext cx="2548600" cy="115929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TW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3. </a:t>
            </a:r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計時器 </a:t>
            </a:r>
            <a:r>
              <a:rPr lang="en-US" altLang="zh-TW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 </a:t>
            </a:r>
          </a:p>
          <a:p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可以選擇要不要使用</a:t>
            </a:r>
            <a:endParaRPr lang="en-US" altLang="zh-TW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輸入欲結束的時間按下套用即可</a:t>
            </a:r>
            <a:endParaRPr lang="en-US" altLang="zh-TW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2F67BA5-9BC8-0D5F-2812-1A1FD4F33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965" y="132160"/>
            <a:ext cx="719310" cy="97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9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6779FAE-D3B8-8998-A26B-E615F78271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60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A356350-C59C-7EEE-41BD-1AEE7ADA1D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51"/>
          <a:stretch>
            <a:fillRect/>
          </a:stretch>
        </p:blipFill>
        <p:spPr>
          <a:xfrm>
            <a:off x="243840" y="1619057"/>
            <a:ext cx="7036435" cy="445808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EBE527B-2447-1BEF-D822-7FAE0342F0BA}"/>
              </a:ext>
            </a:extLst>
          </p:cNvPr>
          <p:cNvSpPr/>
          <p:nvPr/>
        </p:nvSpPr>
        <p:spPr>
          <a:xfrm>
            <a:off x="149225" y="1562100"/>
            <a:ext cx="7213600" cy="4635500"/>
          </a:xfrm>
          <a:prstGeom prst="rect">
            <a:avLst/>
          </a:prstGeom>
          <a:solidFill>
            <a:srgbClr val="04060A">
              <a:alpha val="0"/>
            </a:srgbClr>
          </a:solidFill>
          <a:ln w="25400">
            <a:solidFill>
              <a:srgbClr val="00FF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8CEC7FDA-8F42-D8E9-1E05-A5ECAFB16675}"/>
              </a:ext>
            </a:extLst>
          </p:cNvPr>
          <p:cNvSpPr/>
          <p:nvPr/>
        </p:nvSpPr>
        <p:spPr>
          <a:xfrm>
            <a:off x="7747000" y="1549400"/>
            <a:ext cx="4114800" cy="2794000"/>
          </a:xfrm>
          <a:prstGeom prst="roundRect">
            <a:avLst/>
          </a:prstGeom>
          <a:solidFill>
            <a:srgbClr val="080E16">
              <a:alpha val="98000"/>
            </a:srgbClr>
          </a:solidFill>
          <a:ln w="25400">
            <a:solidFill>
              <a:srgbClr val="39FF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7CBD23-D4B2-2876-099D-E0967A945C9E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04060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EA9338-B2A5-AFA0-F1D8-FD90F21C010F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00FF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E370B3-8986-70F7-46CE-B25D043D75C7}"/>
              </a:ext>
            </a:extLst>
          </p:cNvPr>
          <p:cNvSpPr/>
          <p:nvPr/>
        </p:nvSpPr>
        <p:spPr>
          <a:xfrm>
            <a:off x="0" y="6769100"/>
            <a:ext cx="12192000" cy="88900"/>
          </a:xfrm>
          <a:prstGeom prst="rect">
            <a:avLst/>
          </a:prstGeom>
          <a:solidFill>
            <a:srgbClr val="FF2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0436407-0857-D9D2-3364-F3EF46B2763E}"/>
              </a:ext>
            </a:extLst>
          </p:cNvPr>
          <p:cNvSpPr txBox="1"/>
          <p:nvPr/>
        </p:nvSpPr>
        <p:spPr>
          <a:xfrm>
            <a:off x="431800" y="241300"/>
            <a:ext cx="546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200" b="1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// 02 · 704 MINESWEEPER</a:t>
            </a:r>
            <a:endParaRPr lang="zh-TW" altLang="en-US" sz="1200" b="1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7A80AD1-CDD6-CBCB-429B-4255127BF131}"/>
              </a:ext>
            </a:extLst>
          </p:cNvPr>
          <p:cNvSpPr txBox="1"/>
          <p:nvPr/>
        </p:nvSpPr>
        <p:spPr>
          <a:xfrm>
            <a:off x="1786347" y="2841528"/>
            <a:ext cx="4980214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4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實際控制台畫面：先按右上角 </a:t>
            </a:r>
            <a:r>
              <a:rPr lang="en-US" altLang="zh-TW" sz="14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BROADCAST</a:t>
            </a:r>
            <a:r>
              <a:rPr lang="zh-TW" altLang="en-US" sz="14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，再選擇投播方式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F9335C9-5FCA-47C5-9D34-FD2BE16FD9E7}"/>
              </a:ext>
            </a:extLst>
          </p:cNvPr>
          <p:cNvSpPr txBox="1"/>
          <p:nvPr/>
        </p:nvSpPr>
        <p:spPr>
          <a:xfrm>
            <a:off x="11112500" y="6400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1200" b="1">
                <a:solidFill>
                  <a:srgbClr val="466478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02/09</a:t>
            </a:r>
            <a:endParaRPr lang="zh-TW" altLang="en-US" sz="1200" b="1">
              <a:solidFill>
                <a:srgbClr val="466478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A59886F4-5071-E561-D134-5BE32E035CAB}"/>
              </a:ext>
            </a:extLst>
          </p:cNvPr>
          <p:cNvSpPr/>
          <p:nvPr/>
        </p:nvSpPr>
        <p:spPr>
          <a:xfrm>
            <a:off x="7747000" y="4527034"/>
            <a:ext cx="4114800" cy="1079500"/>
          </a:xfrm>
          <a:prstGeom prst="roundRect">
            <a:avLst/>
          </a:prstGeom>
          <a:solidFill>
            <a:srgbClr val="080E16">
              <a:alpha val="96000"/>
            </a:srgbClr>
          </a:solidFill>
          <a:ln w="19050">
            <a:solidFill>
              <a:srgbClr val="39FF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27BF51E0-C3DA-62E8-87EF-4DB1A1CFD992}"/>
              </a:ext>
            </a:extLst>
          </p:cNvPr>
          <p:cNvSpPr/>
          <p:nvPr/>
        </p:nvSpPr>
        <p:spPr>
          <a:xfrm>
            <a:off x="7899400" y="4768334"/>
            <a:ext cx="533400" cy="533400"/>
          </a:xfrm>
          <a:prstGeom prst="ellipse">
            <a:avLst/>
          </a:prstGeom>
          <a:solidFill>
            <a:srgbClr val="04060A"/>
          </a:solidFill>
          <a:ln w="25400">
            <a:solidFill>
              <a:srgbClr val="39FF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3F9F070-AF17-5830-E576-A64AB8BCAED0}"/>
              </a:ext>
            </a:extLst>
          </p:cNvPr>
          <p:cNvSpPr txBox="1"/>
          <p:nvPr/>
        </p:nvSpPr>
        <p:spPr>
          <a:xfrm>
            <a:off x="7937500" y="4881145"/>
            <a:ext cx="457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39FF14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2</a:t>
            </a:r>
            <a:endParaRPr lang="zh-TW" altLang="en-US" sz="2000" b="1" dirty="0">
              <a:solidFill>
                <a:srgbClr val="39FF14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3841730-1699-FC2A-5839-8AEE791D25A9}"/>
              </a:ext>
            </a:extLst>
          </p:cNvPr>
          <p:cNvSpPr txBox="1"/>
          <p:nvPr/>
        </p:nvSpPr>
        <p:spPr>
          <a:xfrm>
            <a:off x="8597900" y="4654034"/>
            <a:ext cx="3111500" cy="3744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100" b="1" dirty="0">
                <a:solidFill>
                  <a:srgbClr val="39FF1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選擇投播方式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D5E1F49-39BF-D17B-1395-F097E2062EC7}"/>
              </a:ext>
            </a:extLst>
          </p:cNvPr>
          <p:cNvSpPr txBox="1"/>
          <p:nvPr/>
        </p:nvSpPr>
        <p:spPr>
          <a:xfrm>
            <a:off x="8597900" y="5073134"/>
            <a:ext cx="31115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60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一般現場選「自動 → 第二螢幕」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12321972-8564-2243-6FC4-8B1D95FD5141}"/>
              </a:ext>
            </a:extLst>
          </p:cNvPr>
          <p:cNvGrpSpPr/>
          <p:nvPr/>
        </p:nvGrpSpPr>
        <p:grpSpPr>
          <a:xfrm>
            <a:off x="5149139" y="2219614"/>
            <a:ext cx="501899" cy="501457"/>
            <a:chOff x="6476504" y="1839220"/>
            <a:chExt cx="532904" cy="532904"/>
          </a:xfrm>
        </p:grpSpPr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7E05C201-83A2-8692-1EBF-A1E8C312B4DB}"/>
                </a:ext>
              </a:extLst>
            </p:cNvPr>
            <p:cNvSpPr/>
            <p:nvPr/>
          </p:nvSpPr>
          <p:spPr>
            <a:xfrm>
              <a:off x="6476504" y="1839220"/>
              <a:ext cx="532904" cy="532904"/>
            </a:xfrm>
            <a:prstGeom prst="ellipse">
              <a:avLst/>
            </a:prstGeom>
            <a:solidFill>
              <a:srgbClr val="04060A"/>
            </a:solidFill>
            <a:ln w="38100">
              <a:solidFill>
                <a:srgbClr val="FF2D8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A12E22E5-CFCF-F31D-C248-F72C4AB641B1}"/>
                </a:ext>
              </a:extLst>
            </p:cNvPr>
            <p:cNvSpPr txBox="1"/>
            <p:nvPr/>
          </p:nvSpPr>
          <p:spPr>
            <a:xfrm>
              <a:off x="6508005" y="1941365"/>
              <a:ext cx="469900" cy="327078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rgbClr val="FF2D8F"/>
                  </a:solidFill>
                  <a:latin typeface="Consolas" panose="020B0609020204030204" pitchFamily="49" charset="0"/>
                  <a:ea typeface="Microsoft JhengHei UI" panose="020B0604030504040204" pitchFamily="34" charset="-120"/>
                </a:rPr>
                <a:t>1</a:t>
              </a:r>
              <a:endParaRPr lang="zh-TW" altLang="en-US" sz="2000" b="1" dirty="0">
                <a:solidFill>
                  <a:srgbClr val="FF2D8F"/>
                </a:solidFill>
                <a:latin typeface="Consolas" panose="020B0609020204030204" pitchFamily="49" charset="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69A2DD84-E7BD-BDA5-10B3-B3CCA6FC9D53}"/>
              </a:ext>
            </a:extLst>
          </p:cNvPr>
          <p:cNvSpPr/>
          <p:nvPr/>
        </p:nvSpPr>
        <p:spPr>
          <a:xfrm>
            <a:off x="444500" y="5346700"/>
            <a:ext cx="6794500" cy="660400"/>
          </a:xfrm>
          <a:prstGeom prst="roundRect">
            <a:avLst/>
          </a:prstGeom>
          <a:solidFill>
            <a:srgbClr val="04060A">
              <a:alpha val="95000"/>
            </a:srgbClr>
          </a:solidFill>
          <a:ln w="19050">
            <a:solidFill>
              <a:srgbClr val="00FF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C8706F5-FBA9-130B-AB17-46654C5BF2EC}"/>
              </a:ext>
            </a:extLst>
          </p:cNvPr>
          <p:cNvSpPr txBox="1"/>
          <p:nvPr/>
        </p:nvSpPr>
        <p:spPr>
          <a:xfrm>
            <a:off x="622300" y="5499100"/>
            <a:ext cx="64135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b="1">
                <a:solidFill>
                  <a:srgbClr val="FFB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結束投播：再按一次 </a:t>
            </a:r>
            <a:r>
              <a:rPr lang="en-US" altLang="zh-TW" b="1">
                <a:solidFill>
                  <a:srgbClr val="FFB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STOP_BROADCAST</a:t>
            </a:r>
            <a:endParaRPr lang="zh-TW" altLang="en-US" b="1">
              <a:solidFill>
                <a:srgbClr val="FFB00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B2086DAE-7AF6-FDEF-8EDC-1F847457B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100" y="1966247"/>
            <a:ext cx="3314987" cy="195088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FD85D4ED-0AE6-F3DE-D1E4-ED115782D624}"/>
              </a:ext>
            </a:extLst>
          </p:cNvPr>
          <p:cNvSpPr txBox="1"/>
          <p:nvPr/>
        </p:nvSpPr>
        <p:spPr>
          <a:xfrm>
            <a:off x="37678" y="432012"/>
            <a:ext cx="73251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投播流程說明 </a:t>
            </a:r>
            <a:r>
              <a:rPr lang="en-US" altLang="zh-TW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zh-TW" altLang="en-US" sz="3200" b="1" u="sng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要給客人玩，一定要做</a:t>
            </a:r>
            <a:endParaRPr lang="en-US" altLang="zh-TW" sz="3200" b="1" u="sng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4DD1F59-41E1-00C4-AF56-A5601CC0C4F9}"/>
              </a:ext>
            </a:extLst>
          </p:cNvPr>
          <p:cNvSpPr txBox="1"/>
          <p:nvPr/>
        </p:nvSpPr>
        <p:spPr>
          <a:xfrm>
            <a:off x="37678" y="983707"/>
            <a:ext cx="68156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把後臺畫面顯示在</a:t>
            </a:r>
            <a:r>
              <a:rPr lang="en-US" altLang="zh-TW" sz="20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704</a:t>
            </a:r>
            <a:r>
              <a:rPr lang="zh-TW" altLang="en-US" sz="20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場域中的意思</a:t>
            </a:r>
            <a:endParaRPr lang="en-US" altLang="zh-TW" sz="2000" b="1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400A5D0-54FB-6B9A-D59F-54C2D1601F8F}"/>
              </a:ext>
            </a:extLst>
          </p:cNvPr>
          <p:cNvSpPr txBox="1"/>
          <p:nvPr/>
        </p:nvSpPr>
        <p:spPr>
          <a:xfrm>
            <a:off x="7704667" y="5832418"/>
            <a:ext cx="42434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操作完就可以看到</a:t>
            </a:r>
            <a:r>
              <a:rPr lang="en-US" altLang="zh-TW" sz="20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704</a:t>
            </a:r>
            <a:r>
              <a:rPr lang="zh-TW" altLang="en-US" sz="20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有遊戲畫面出來了</a:t>
            </a:r>
            <a:endParaRPr lang="en-US" altLang="zh-TW" sz="2000" b="1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35524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30189D-C234-19B7-EC79-FEBE442D34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60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25E496BF-A39B-DE4F-60F0-BF17C61CD30D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9D815496-D9C0-19AC-9251-7DB6D656AFE2}"/>
              </a:ext>
            </a:extLst>
          </p:cNvPr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EC37EAEA-7214-15D1-9C0B-C0C084194EBC}"/>
              </a:ext>
            </a:extLst>
          </p:cNvPr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FE6AE6F0-2838-9976-66C0-5C753E2BFFD2}"/>
              </a:ext>
            </a:extLst>
          </p:cNvPr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E2B040E4-A24A-810F-996C-30BA2268A8A0}"/>
              </a:ext>
            </a:extLst>
          </p:cNvPr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9ABD2C5B-3BA4-4F61-933C-2F2EDB9D15F1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B7E2E00E-B560-D56C-C2B7-BD3A745803D7}"/>
              </a:ext>
            </a:extLst>
          </p:cNvPr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BD446766-5DC9-ED24-9BDC-B7B1F716E4D3}"/>
              </a:ext>
            </a:extLst>
          </p:cNvPr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50EBBA89-AB58-96C9-6949-B3D8FB19F3B2}"/>
              </a:ext>
            </a:extLst>
          </p:cNvPr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0ABEF022-EB61-787B-5812-5116561308E9}"/>
              </a:ext>
            </a:extLst>
          </p:cNvPr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72B1067-0A2D-5593-9454-884E9BECDBDF}"/>
              </a:ext>
            </a:extLst>
          </p:cNvPr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68961D18-260A-5F0A-C837-19E638702F92}"/>
              </a:ext>
            </a:extLst>
          </p:cNvPr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7319B09E-2957-D2AD-C302-CE1EBEB6320D}"/>
              </a:ext>
            </a:extLst>
          </p:cNvPr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C0070E71-F6E5-365E-FD06-945C146DE764}"/>
              </a:ext>
            </a:extLst>
          </p:cNvPr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6DA0BD50-8219-EED0-91FE-A76213D51C76}"/>
              </a:ext>
            </a:extLst>
          </p:cNvPr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E40E7B27-67DA-3D55-87F6-D421614AFDA5}"/>
              </a:ext>
            </a:extLst>
          </p:cNvPr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44C1A3E4-F7BE-CC4A-6C80-CF4C4577C531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00FF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F459BFE-F7D4-F8F6-D456-77E4E876A57A}"/>
              </a:ext>
            </a:extLst>
          </p:cNvPr>
          <p:cNvSpPr/>
          <p:nvPr/>
        </p:nvSpPr>
        <p:spPr>
          <a:xfrm>
            <a:off x="0" y="6769100"/>
            <a:ext cx="12192000" cy="88900"/>
          </a:xfrm>
          <a:prstGeom prst="rect">
            <a:avLst/>
          </a:prstGeom>
          <a:solidFill>
            <a:srgbClr val="FF2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0BBB1AB-CF6C-2F32-5FD7-87F0162EEB66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04060A">
              <a:alpha val="9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8864D96-F9C0-EE8C-D512-D0AE64BD4EEF}"/>
              </a:ext>
            </a:extLst>
          </p:cNvPr>
          <p:cNvSpPr txBox="1"/>
          <p:nvPr/>
        </p:nvSpPr>
        <p:spPr>
          <a:xfrm>
            <a:off x="431800" y="241300"/>
            <a:ext cx="546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200" b="1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// 03 · 704 MINESWEEPER</a:t>
            </a:r>
            <a:endParaRPr lang="zh-TW" altLang="en-US" sz="1200" b="1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5FB5452-31B2-D88B-F89D-99F8AD858C00}"/>
              </a:ext>
            </a:extLst>
          </p:cNvPr>
          <p:cNvSpPr txBox="1"/>
          <p:nvPr/>
        </p:nvSpPr>
        <p:spPr>
          <a:xfrm>
            <a:off x="431800" y="573861"/>
            <a:ext cx="10795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遊戲規則 </a:t>
            </a:r>
            <a:r>
              <a:rPr lang="en-US" altLang="zh-TW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一局遊戲流程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9383BC3-8DA0-4916-218E-29EDEF6F79E8}"/>
              </a:ext>
            </a:extLst>
          </p:cNvPr>
          <p:cNvSpPr txBox="1"/>
          <p:nvPr/>
        </p:nvSpPr>
        <p:spPr>
          <a:xfrm>
            <a:off x="469900" y="1117600"/>
            <a:ext cx="10795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400" dirty="0">
                <a:solidFill>
                  <a:srgbClr val="A5BEC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營運帶場時，依照箭頭順序進行 。一局遊玩時間平均會花費</a:t>
            </a:r>
            <a:r>
              <a:rPr lang="en-US" altLang="zh-TW" sz="1400" dirty="0">
                <a:solidFill>
                  <a:srgbClr val="A5BEC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</a:t>
            </a:r>
            <a:r>
              <a:rPr lang="zh-TW" altLang="en-US" sz="1400" dirty="0">
                <a:solidFill>
                  <a:srgbClr val="A5BEC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分鐘以內。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31B513A-1CAD-42B2-B963-34DC6907C427}"/>
              </a:ext>
            </a:extLst>
          </p:cNvPr>
          <p:cNvSpPr txBox="1"/>
          <p:nvPr/>
        </p:nvSpPr>
        <p:spPr>
          <a:xfrm>
            <a:off x="11112500" y="6400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1200" b="1">
                <a:solidFill>
                  <a:srgbClr val="466478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03/09</a:t>
            </a:r>
            <a:endParaRPr lang="zh-TW" altLang="en-US" sz="1200" b="1">
              <a:solidFill>
                <a:srgbClr val="466478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55D31F2D-5536-B255-4114-94E9DED6E2BC}"/>
              </a:ext>
            </a:extLst>
          </p:cNvPr>
          <p:cNvSpPr/>
          <p:nvPr/>
        </p:nvSpPr>
        <p:spPr>
          <a:xfrm>
            <a:off x="355600" y="2413000"/>
            <a:ext cx="1676400" cy="1905000"/>
          </a:xfrm>
          <a:prstGeom prst="roundRect">
            <a:avLst/>
          </a:prstGeom>
          <a:solidFill>
            <a:srgbClr val="080E16">
              <a:alpha val="97000"/>
            </a:srgbClr>
          </a:solidFill>
          <a:ln w="25400">
            <a:solidFill>
              <a:srgbClr val="00FF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C433AA6-E60E-804D-C1B9-13F0A1D8D9FF}"/>
              </a:ext>
            </a:extLst>
          </p:cNvPr>
          <p:cNvSpPr txBox="1"/>
          <p:nvPr/>
        </p:nvSpPr>
        <p:spPr>
          <a:xfrm>
            <a:off x="901700" y="208280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2000" b="1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1</a:t>
            </a:r>
            <a:endParaRPr lang="zh-TW" altLang="en-US" sz="2000" b="1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A9CBC6C-D813-B063-6979-3D6F83F5A5EF}"/>
              </a:ext>
            </a:extLst>
          </p:cNvPr>
          <p:cNvSpPr txBox="1"/>
          <p:nvPr/>
        </p:nvSpPr>
        <p:spPr>
          <a:xfrm>
            <a:off x="457200" y="2794000"/>
            <a:ext cx="14732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sz="2300" b="1">
                <a:solidFill>
                  <a:srgbClr val="00FFE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待機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102E223-3007-7894-A484-76EB711AB252}"/>
              </a:ext>
            </a:extLst>
          </p:cNvPr>
          <p:cNvSpPr txBox="1"/>
          <p:nvPr/>
        </p:nvSpPr>
        <p:spPr>
          <a:xfrm>
            <a:off x="457744" y="3292757"/>
            <a:ext cx="1472837" cy="88229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後台設定限時</a:t>
            </a:r>
            <a:endParaRPr lang="en-US" altLang="zh-TW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algn="ctr"/>
            <a:r>
              <a:rPr lang="en-US" altLang="zh-TW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or</a:t>
            </a:r>
          </a:p>
          <a:p>
            <a:pPr algn="ctr"/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直接開始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86407CE-F2FE-042F-3628-CF675276A1CE}"/>
              </a:ext>
            </a:extLst>
          </p:cNvPr>
          <p:cNvSpPr txBox="1"/>
          <p:nvPr/>
        </p:nvSpPr>
        <p:spPr>
          <a:xfrm>
            <a:off x="2032000" y="3111500"/>
            <a:ext cx="317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3200" b="1">
                <a:solidFill>
                  <a:srgbClr val="466478"/>
                </a:solidFill>
                <a:latin typeface="Bahnschrift" panose="020B0502040204020203" pitchFamily="34" charset="0"/>
                <a:ea typeface="Microsoft JhengHei UI" panose="020B0604030504040204" pitchFamily="34" charset="-120"/>
              </a:rPr>
              <a:t>›</a:t>
            </a:r>
            <a:endParaRPr lang="zh-TW" altLang="en-US" sz="3200" b="1">
              <a:solidFill>
                <a:srgbClr val="466478"/>
              </a:solidFill>
              <a:latin typeface="Bahnschrift" panose="020B0502040204020203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571031E9-0D95-D501-8378-7F8A4D4CFC8D}"/>
              </a:ext>
            </a:extLst>
          </p:cNvPr>
          <p:cNvSpPr/>
          <p:nvPr/>
        </p:nvSpPr>
        <p:spPr>
          <a:xfrm>
            <a:off x="2324100" y="2413000"/>
            <a:ext cx="1676400" cy="1905000"/>
          </a:xfrm>
          <a:prstGeom prst="roundRect">
            <a:avLst/>
          </a:prstGeom>
          <a:solidFill>
            <a:srgbClr val="080E16">
              <a:alpha val="97000"/>
            </a:srgbClr>
          </a:solidFill>
          <a:ln w="25400">
            <a:solidFill>
              <a:srgbClr val="39FF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F5A79B6-76D0-8E66-F4B0-8A831D7896E6}"/>
              </a:ext>
            </a:extLst>
          </p:cNvPr>
          <p:cNvSpPr txBox="1"/>
          <p:nvPr/>
        </p:nvSpPr>
        <p:spPr>
          <a:xfrm>
            <a:off x="2870200" y="208280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2000" b="1">
                <a:solidFill>
                  <a:srgbClr val="39FF14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2</a:t>
            </a:r>
            <a:endParaRPr lang="zh-TW" altLang="en-US" sz="2000" b="1">
              <a:solidFill>
                <a:srgbClr val="39FF14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FC09D78-7B56-A5A8-879A-7BA807DA838A}"/>
              </a:ext>
            </a:extLst>
          </p:cNvPr>
          <p:cNvSpPr txBox="1"/>
          <p:nvPr/>
        </p:nvSpPr>
        <p:spPr>
          <a:xfrm>
            <a:off x="2425700" y="2794000"/>
            <a:ext cx="14732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sz="2300" b="1">
                <a:solidFill>
                  <a:srgbClr val="39FF1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開始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EB08D12-43E8-1563-A725-38BBB63835E8}"/>
              </a:ext>
            </a:extLst>
          </p:cNvPr>
          <p:cNvSpPr txBox="1"/>
          <p:nvPr/>
        </p:nvSpPr>
        <p:spPr>
          <a:xfrm>
            <a:off x="2463800" y="3467100"/>
            <a:ext cx="1397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踩中央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A7A20F30-8AF3-2609-574C-4E9ADE2A49C3}"/>
              </a:ext>
            </a:extLst>
          </p:cNvPr>
          <p:cNvSpPr txBox="1"/>
          <p:nvPr/>
        </p:nvSpPr>
        <p:spPr>
          <a:xfrm>
            <a:off x="4000500" y="3111500"/>
            <a:ext cx="317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3200" b="1">
                <a:solidFill>
                  <a:srgbClr val="466478"/>
                </a:solidFill>
                <a:latin typeface="Bahnschrift" panose="020B0502040204020203" pitchFamily="34" charset="0"/>
                <a:ea typeface="Microsoft JhengHei UI" panose="020B0604030504040204" pitchFamily="34" charset="-120"/>
              </a:rPr>
              <a:t>›</a:t>
            </a:r>
            <a:endParaRPr lang="zh-TW" altLang="en-US" sz="3200" b="1">
              <a:solidFill>
                <a:srgbClr val="466478"/>
              </a:solidFill>
              <a:latin typeface="Bahnschrift" panose="020B0502040204020203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DC50A234-4295-1DC4-4430-00758FC4937E}"/>
              </a:ext>
            </a:extLst>
          </p:cNvPr>
          <p:cNvSpPr/>
          <p:nvPr/>
        </p:nvSpPr>
        <p:spPr>
          <a:xfrm>
            <a:off x="4292600" y="2413000"/>
            <a:ext cx="1676400" cy="1905000"/>
          </a:xfrm>
          <a:prstGeom prst="roundRect">
            <a:avLst/>
          </a:prstGeom>
          <a:solidFill>
            <a:srgbClr val="080E16">
              <a:alpha val="97000"/>
            </a:srgbClr>
          </a:solidFill>
          <a:ln w="25400">
            <a:solidFill>
              <a:srgbClr val="FF2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1C25985D-04C8-AAB7-90C2-27A017DC5ADF}"/>
              </a:ext>
            </a:extLst>
          </p:cNvPr>
          <p:cNvSpPr txBox="1"/>
          <p:nvPr/>
        </p:nvSpPr>
        <p:spPr>
          <a:xfrm>
            <a:off x="4838700" y="208280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2000" b="1">
                <a:solidFill>
                  <a:srgbClr val="FF2D8F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3</a:t>
            </a:r>
            <a:endParaRPr lang="zh-TW" altLang="en-US" sz="2000" b="1">
              <a:solidFill>
                <a:srgbClr val="FF2D8F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C4E11FE8-A41D-15B7-4DCF-C01C9E670FB6}"/>
              </a:ext>
            </a:extLst>
          </p:cNvPr>
          <p:cNvSpPr txBox="1"/>
          <p:nvPr/>
        </p:nvSpPr>
        <p:spPr>
          <a:xfrm>
            <a:off x="4375694" y="2695219"/>
            <a:ext cx="1473200" cy="75918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sz="23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遊戲模式切換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B4B894F-53D0-ADFD-42D9-961945F7CB96}"/>
              </a:ext>
            </a:extLst>
          </p:cNvPr>
          <p:cNvSpPr txBox="1"/>
          <p:nvPr/>
        </p:nvSpPr>
        <p:spPr>
          <a:xfrm>
            <a:off x="4432300" y="3467100"/>
            <a:ext cx="1397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altLang="zh-TW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SCAN or MARK</a:t>
            </a:r>
            <a:endParaRPr lang="zh-TW" altLang="en-US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F8407F80-63EF-96DF-614D-9D628690AFB9}"/>
              </a:ext>
            </a:extLst>
          </p:cNvPr>
          <p:cNvSpPr txBox="1"/>
          <p:nvPr/>
        </p:nvSpPr>
        <p:spPr>
          <a:xfrm>
            <a:off x="5969000" y="3111500"/>
            <a:ext cx="317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3200" b="1">
                <a:solidFill>
                  <a:srgbClr val="466478"/>
                </a:solidFill>
                <a:latin typeface="Bahnschrift" panose="020B0502040204020203" pitchFamily="34" charset="0"/>
                <a:ea typeface="Microsoft JhengHei UI" panose="020B0604030504040204" pitchFamily="34" charset="-120"/>
              </a:rPr>
              <a:t>›</a:t>
            </a:r>
            <a:endParaRPr lang="zh-TW" altLang="en-US" sz="3200" b="1">
              <a:solidFill>
                <a:srgbClr val="466478"/>
              </a:solidFill>
              <a:latin typeface="Bahnschrift" panose="020B0502040204020203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EEE53AA0-37CE-1F97-CC8F-F5FEE1807EAF}"/>
              </a:ext>
            </a:extLst>
          </p:cNvPr>
          <p:cNvSpPr/>
          <p:nvPr/>
        </p:nvSpPr>
        <p:spPr>
          <a:xfrm>
            <a:off x="6261100" y="2413000"/>
            <a:ext cx="1676400" cy="1905000"/>
          </a:xfrm>
          <a:prstGeom prst="roundRect">
            <a:avLst/>
          </a:prstGeom>
          <a:solidFill>
            <a:srgbClr val="080E16">
              <a:alpha val="97000"/>
            </a:srgbClr>
          </a:solidFill>
          <a:ln w="25400">
            <a:solidFill>
              <a:srgbClr val="00FF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51F0774D-5F21-75D2-8E71-70F4B540D9CB}"/>
              </a:ext>
            </a:extLst>
          </p:cNvPr>
          <p:cNvSpPr txBox="1"/>
          <p:nvPr/>
        </p:nvSpPr>
        <p:spPr>
          <a:xfrm>
            <a:off x="6807200" y="208280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2000" b="1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4</a:t>
            </a:r>
            <a:endParaRPr lang="zh-TW" altLang="en-US" sz="2000" b="1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7C9EB5C-6A0D-D8AC-20EA-FEBF6C21A8F1}"/>
              </a:ext>
            </a:extLst>
          </p:cNvPr>
          <p:cNvSpPr txBox="1"/>
          <p:nvPr/>
        </p:nvSpPr>
        <p:spPr>
          <a:xfrm>
            <a:off x="6362700" y="2794000"/>
            <a:ext cx="14732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sz="2300" b="1">
                <a:solidFill>
                  <a:srgbClr val="00FFE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摸牆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D7EFB3D6-67BE-F0E3-2D28-36FB852042F9}"/>
              </a:ext>
            </a:extLst>
          </p:cNvPr>
          <p:cNvSpPr txBox="1"/>
          <p:nvPr/>
        </p:nvSpPr>
        <p:spPr>
          <a:xfrm>
            <a:off x="6400800" y="3467100"/>
            <a:ext cx="1397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直接執行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4D952C5-0D15-8767-4E08-47A0C406D818}"/>
              </a:ext>
            </a:extLst>
          </p:cNvPr>
          <p:cNvSpPr txBox="1"/>
          <p:nvPr/>
        </p:nvSpPr>
        <p:spPr>
          <a:xfrm>
            <a:off x="7937500" y="3111500"/>
            <a:ext cx="317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3200" b="1">
                <a:solidFill>
                  <a:srgbClr val="466478"/>
                </a:solidFill>
                <a:latin typeface="Bahnschrift" panose="020B0502040204020203" pitchFamily="34" charset="0"/>
                <a:ea typeface="Microsoft JhengHei UI" panose="020B0604030504040204" pitchFamily="34" charset="-120"/>
              </a:rPr>
              <a:t>›</a:t>
            </a:r>
            <a:endParaRPr lang="zh-TW" altLang="en-US" sz="3200" b="1">
              <a:solidFill>
                <a:srgbClr val="466478"/>
              </a:solidFill>
              <a:latin typeface="Bahnschrift" panose="020B0502040204020203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A87949BF-F6F3-7175-9538-B2F95F92306B}"/>
              </a:ext>
            </a:extLst>
          </p:cNvPr>
          <p:cNvSpPr/>
          <p:nvPr/>
        </p:nvSpPr>
        <p:spPr>
          <a:xfrm>
            <a:off x="8229600" y="2413000"/>
            <a:ext cx="1676400" cy="1905000"/>
          </a:xfrm>
          <a:prstGeom prst="roundRect">
            <a:avLst/>
          </a:prstGeom>
          <a:solidFill>
            <a:srgbClr val="080E16">
              <a:alpha val="97000"/>
            </a:srgbClr>
          </a:solidFill>
          <a:ln w="25400">
            <a:solidFill>
              <a:srgbClr val="FF17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572CB2D4-A342-C4A0-1912-9D84C0144DE1}"/>
              </a:ext>
            </a:extLst>
          </p:cNvPr>
          <p:cNvSpPr txBox="1"/>
          <p:nvPr/>
        </p:nvSpPr>
        <p:spPr>
          <a:xfrm>
            <a:off x="8775700" y="208280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2000" b="1">
                <a:solidFill>
                  <a:srgbClr val="FF1744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5</a:t>
            </a:r>
            <a:endParaRPr lang="zh-TW" altLang="en-US" sz="2000" b="1">
              <a:solidFill>
                <a:srgbClr val="FF1744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9E5646DB-2120-FEB5-C1BD-716A8F7A0BF0}"/>
              </a:ext>
            </a:extLst>
          </p:cNvPr>
          <p:cNvSpPr txBox="1"/>
          <p:nvPr/>
        </p:nvSpPr>
        <p:spPr>
          <a:xfrm>
            <a:off x="8331200" y="2794000"/>
            <a:ext cx="14732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sz="2300" b="1">
                <a:solidFill>
                  <a:srgbClr val="FF174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結束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F22F70C9-522D-2058-A8E8-35AAF07B2F2D}"/>
              </a:ext>
            </a:extLst>
          </p:cNvPr>
          <p:cNvSpPr txBox="1"/>
          <p:nvPr/>
        </p:nvSpPr>
        <p:spPr>
          <a:xfrm>
            <a:off x="8362769" y="3294934"/>
            <a:ext cx="1397000" cy="88229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揭露完所有格子 </a:t>
            </a:r>
            <a:r>
              <a:rPr lang="en-US" altLang="zh-TW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or </a:t>
            </a:r>
          </a:p>
          <a:p>
            <a:pPr algn="ctr"/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中途退出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02A34840-8B43-D0E8-28DE-E3D9B9AEF7F1}"/>
              </a:ext>
            </a:extLst>
          </p:cNvPr>
          <p:cNvSpPr txBox="1"/>
          <p:nvPr/>
        </p:nvSpPr>
        <p:spPr>
          <a:xfrm>
            <a:off x="9906000" y="3111500"/>
            <a:ext cx="317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3200" b="1">
                <a:solidFill>
                  <a:srgbClr val="466478"/>
                </a:solidFill>
                <a:latin typeface="Bahnschrift" panose="020B0502040204020203" pitchFamily="34" charset="0"/>
                <a:ea typeface="Microsoft JhengHei UI" panose="020B0604030504040204" pitchFamily="34" charset="-120"/>
              </a:rPr>
              <a:t>›</a:t>
            </a:r>
            <a:endParaRPr lang="zh-TW" altLang="en-US" sz="3200" b="1">
              <a:solidFill>
                <a:srgbClr val="466478"/>
              </a:solidFill>
              <a:latin typeface="Bahnschrift" panose="020B0502040204020203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51" name="矩形: 圓角 50">
            <a:extLst>
              <a:ext uri="{FF2B5EF4-FFF2-40B4-BE49-F238E27FC236}">
                <a16:creationId xmlns:a16="http://schemas.microsoft.com/office/drawing/2014/main" id="{BF05D4B4-47EF-7CC3-909A-95E6E2E082D3}"/>
              </a:ext>
            </a:extLst>
          </p:cNvPr>
          <p:cNvSpPr/>
          <p:nvPr/>
        </p:nvSpPr>
        <p:spPr>
          <a:xfrm>
            <a:off x="10198100" y="2413000"/>
            <a:ext cx="1676400" cy="1905000"/>
          </a:xfrm>
          <a:prstGeom prst="roundRect">
            <a:avLst/>
          </a:prstGeom>
          <a:solidFill>
            <a:srgbClr val="080E16">
              <a:alpha val="97000"/>
            </a:srgbClr>
          </a:solidFill>
          <a:ln w="25400">
            <a:solidFill>
              <a:srgbClr val="FFB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F0F6301F-FF37-CC44-9718-B884E7789B11}"/>
              </a:ext>
            </a:extLst>
          </p:cNvPr>
          <p:cNvSpPr txBox="1"/>
          <p:nvPr/>
        </p:nvSpPr>
        <p:spPr>
          <a:xfrm>
            <a:off x="10744200" y="2082800"/>
            <a:ext cx="571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2000" b="1">
                <a:solidFill>
                  <a:srgbClr val="FFB000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6</a:t>
            </a:r>
            <a:endParaRPr lang="zh-TW" altLang="en-US" sz="2000" b="1">
              <a:solidFill>
                <a:srgbClr val="FFB000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037CBB37-5BEC-F3BA-C31D-B32D83EBF8E6}"/>
              </a:ext>
            </a:extLst>
          </p:cNvPr>
          <p:cNvSpPr txBox="1"/>
          <p:nvPr/>
        </p:nvSpPr>
        <p:spPr>
          <a:xfrm>
            <a:off x="10274299" y="3204537"/>
            <a:ext cx="14732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sz="2300" b="1" dirty="0">
                <a:solidFill>
                  <a:srgbClr val="FFB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回待機</a:t>
            </a:r>
          </a:p>
        </p:txBody>
      </p: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E28C84B0-2A11-95EB-4F41-4139FB0346B1}"/>
              </a:ext>
            </a:extLst>
          </p:cNvPr>
          <p:cNvSpPr/>
          <p:nvPr/>
        </p:nvSpPr>
        <p:spPr>
          <a:xfrm>
            <a:off x="3022600" y="4927599"/>
            <a:ext cx="6146800" cy="1223049"/>
          </a:xfrm>
          <a:prstGeom prst="roundRect">
            <a:avLst/>
          </a:prstGeom>
          <a:solidFill>
            <a:srgbClr val="080E16">
              <a:alpha val="94000"/>
            </a:srgbClr>
          </a:solidFill>
          <a:ln w="22860">
            <a:solidFill>
              <a:srgbClr val="39FF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6A2CACD6-0BBE-2CD7-9070-E271DE7A8EEC}"/>
              </a:ext>
            </a:extLst>
          </p:cNvPr>
          <p:cNvSpPr txBox="1"/>
          <p:nvPr/>
        </p:nvSpPr>
        <p:spPr>
          <a:xfrm>
            <a:off x="3276600" y="5105400"/>
            <a:ext cx="57023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300" b="1">
                <a:solidFill>
                  <a:srgbClr val="39FF1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最重要</a:t>
            </a: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40F5B011-5286-DFC5-F87E-3C444BD02D26}"/>
              </a:ext>
            </a:extLst>
          </p:cNvPr>
          <p:cNvSpPr txBox="1"/>
          <p:nvPr/>
        </p:nvSpPr>
        <p:spPr>
          <a:xfrm>
            <a:off x="3276600" y="5651500"/>
            <a:ext cx="56642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20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先踩地板切換模式，再直接摸牆上的格子。</a:t>
            </a:r>
          </a:p>
        </p:txBody>
      </p:sp>
    </p:spTree>
    <p:extLst>
      <p:ext uri="{BB962C8B-B14F-4D97-AF65-F5344CB8AC3E}">
        <p14:creationId xmlns:p14="http://schemas.microsoft.com/office/powerpoint/2010/main" val="1889729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E1997E6-069B-658F-DC0A-1119BF246C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60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6004F996-9AF5-8842-B7E0-C593BAF4848F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D5125C45-D882-1CA2-DDA3-90D8757EFA8D}"/>
              </a:ext>
            </a:extLst>
          </p:cNvPr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21B29E3F-F306-F0D5-7830-2603006AB1CF}"/>
              </a:ext>
            </a:extLst>
          </p:cNvPr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CC79345B-2B2C-F06B-9560-FA0E19BCFD3E}"/>
              </a:ext>
            </a:extLst>
          </p:cNvPr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500E7619-992A-903E-6622-A0204DB23140}"/>
              </a:ext>
            </a:extLst>
          </p:cNvPr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FA00A26E-4536-FC67-D734-0D9E4DEABA6B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F55C058C-72FA-FE06-99FA-FD41E0D4B779}"/>
              </a:ext>
            </a:extLst>
          </p:cNvPr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7B95E5B-8EA7-ADE1-9D09-E395D999751C}"/>
              </a:ext>
            </a:extLst>
          </p:cNvPr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E591F0F0-B660-5A01-CB36-B1EE1373FB3B}"/>
              </a:ext>
            </a:extLst>
          </p:cNvPr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800810EE-2EC6-24A7-A4C5-411A5E77FA01}"/>
              </a:ext>
            </a:extLst>
          </p:cNvPr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EC0AC56F-C4AD-98FA-E9A3-85DC9464A506}"/>
              </a:ext>
            </a:extLst>
          </p:cNvPr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F19815AA-BEAF-BD02-0F3F-6C01BF7B0DD1}"/>
              </a:ext>
            </a:extLst>
          </p:cNvPr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D447D35-78AC-057B-96BB-C00A7A0574EA}"/>
              </a:ext>
            </a:extLst>
          </p:cNvPr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65BBC47A-0594-8831-E86C-5625AFC86FCF}"/>
              </a:ext>
            </a:extLst>
          </p:cNvPr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2A15D798-ACF8-AFF0-C9DA-5675B3EF462B}"/>
              </a:ext>
            </a:extLst>
          </p:cNvPr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1BA2C489-14ED-84B6-8261-69688936241D}"/>
              </a:ext>
            </a:extLst>
          </p:cNvPr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5E63451B-D40D-9735-FB83-7F7E9E199A55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00FF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4B59BE9-8353-9CC5-4546-4D0D8B6B27F6}"/>
              </a:ext>
            </a:extLst>
          </p:cNvPr>
          <p:cNvSpPr/>
          <p:nvPr/>
        </p:nvSpPr>
        <p:spPr>
          <a:xfrm>
            <a:off x="0" y="6769100"/>
            <a:ext cx="12192000" cy="88900"/>
          </a:xfrm>
          <a:prstGeom prst="rect">
            <a:avLst/>
          </a:prstGeom>
          <a:solidFill>
            <a:srgbClr val="FF2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0AC88BA-55AE-46A6-BB9D-014BADFF0740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04060A">
              <a:alpha val="9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7DA1430-6698-F4EF-D078-EBEF2AD0B385}"/>
              </a:ext>
            </a:extLst>
          </p:cNvPr>
          <p:cNvSpPr txBox="1"/>
          <p:nvPr/>
        </p:nvSpPr>
        <p:spPr>
          <a:xfrm>
            <a:off x="431800" y="241300"/>
            <a:ext cx="546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200" b="1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// 04 · 704 MINESWEEPER</a:t>
            </a:r>
            <a:endParaRPr lang="zh-TW" altLang="en-US" sz="1200" b="1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3425F66-1629-7C28-8FFF-C66C798AB8A7}"/>
              </a:ext>
            </a:extLst>
          </p:cNvPr>
          <p:cNvSpPr txBox="1"/>
          <p:nvPr/>
        </p:nvSpPr>
        <p:spPr>
          <a:xfrm>
            <a:off x="431800" y="571500"/>
            <a:ext cx="10795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遊戲規則 </a:t>
            </a:r>
            <a:r>
              <a:rPr lang="en-US" altLang="zh-TW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地板按鈕｜四種狀態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74BCF5D-BDF1-D9F9-518F-4A049B77CC47}"/>
              </a:ext>
            </a:extLst>
          </p:cNvPr>
          <p:cNvSpPr txBox="1"/>
          <p:nvPr/>
        </p:nvSpPr>
        <p:spPr>
          <a:xfrm>
            <a:off x="469900" y="1117600"/>
            <a:ext cx="10795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400">
                <a:solidFill>
                  <a:srgbClr val="A5BEC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同一個位置，會依遊戲狀態改變功能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C65D63E-2D1D-24EC-1480-6793EDA6BBC1}"/>
              </a:ext>
            </a:extLst>
          </p:cNvPr>
          <p:cNvSpPr txBox="1"/>
          <p:nvPr/>
        </p:nvSpPr>
        <p:spPr>
          <a:xfrm>
            <a:off x="11112500" y="6400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1200" b="1">
                <a:solidFill>
                  <a:srgbClr val="466478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04/09</a:t>
            </a:r>
            <a:endParaRPr lang="zh-TW" altLang="en-US" sz="1200" b="1">
              <a:solidFill>
                <a:srgbClr val="466478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E386E041-DFC8-E43C-4988-034C7AE40D3E}"/>
              </a:ext>
            </a:extLst>
          </p:cNvPr>
          <p:cNvSpPr/>
          <p:nvPr/>
        </p:nvSpPr>
        <p:spPr>
          <a:xfrm>
            <a:off x="482600" y="1803400"/>
            <a:ext cx="4445000" cy="4254500"/>
          </a:xfrm>
          <a:prstGeom prst="roundRect">
            <a:avLst/>
          </a:prstGeom>
          <a:solidFill>
            <a:srgbClr val="080E16">
              <a:alpha val="97000"/>
            </a:srgbClr>
          </a:solidFill>
          <a:ln w="19050">
            <a:solidFill>
              <a:srgbClr val="00FF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18E85904-FE3E-BBE4-2857-EC07963A0AE8}"/>
              </a:ext>
            </a:extLst>
          </p:cNvPr>
          <p:cNvSpPr/>
          <p:nvPr/>
        </p:nvSpPr>
        <p:spPr>
          <a:xfrm>
            <a:off x="1515110" y="2574250"/>
            <a:ext cx="2372360" cy="2372360"/>
          </a:xfrm>
          <a:prstGeom prst="ellipse">
            <a:avLst/>
          </a:prstGeom>
          <a:solidFill>
            <a:srgbClr val="080E16">
              <a:alpha val="96000"/>
            </a:srgbClr>
          </a:solidFill>
          <a:ln w="254000">
            <a:solidFill>
              <a:srgbClr val="FF2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5C2F0F14-AFCE-C670-0777-C30C12613110}"/>
              </a:ext>
            </a:extLst>
          </p:cNvPr>
          <p:cNvSpPr/>
          <p:nvPr/>
        </p:nvSpPr>
        <p:spPr>
          <a:xfrm>
            <a:off x="1739900" y="2794000"/>
            <a:ext cx="1930400" cy="1930400"/>
          </a:xfrm>
          <a:prstGeom prst="ellipse">
            <a:avLst/>
          </a:prstGeom>
          <a:solidFill>
            <a:srgbClr val="080E16">
              <a:alpha val="98000"/>
            </a:srgb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C04EBF8-C422-FC34-3111-E0D890E8DD50}"/>
              </a:ext>
            </a:extLst>
          </p:cNvPr>
          <p:cNvSpPr txBox="1"/>
          <p:nvPr/>
        </p:nvSpPr>
        <p:spPr>
          <a:xfrm>
            <a:off x="1803400" y="3378200"/>
            <a:ext cx="1803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3000" b="1" dirty="0">
                <a:solidFill>
                  <a:srgbClr val="FFC000"/>
                </a:solidFill>
                <a:latin typeface="Bahnschrift" panose="020B0502040204020203" pitchFamily="34" charset="0"/>
                <a:ea typeface="Microsoft JhengHei UI" panose="020B0604030504040204" pitchFamily="34" charset="-120"/>
              </a:rPr>
              <a:t>SCAN</a:t>
            </a:r>
            <a:endParaRPr lang="zh-TW" altLang="en-US" sz="3000" b="1" dirty="0">
              <a:solidFill>
                <a:srgbClr val="FFC000"/>
              </a:solidFill>
              <a:latin typeface="Bahnschrift" panose="020B0502040204020203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FCE1B99D-EB70-0EA7-F79A-649CF37CC00B}"/>
              </a:ext>
            </a:extLst>
          </p:cNvPr>
          <p:cNvSpPr txBox="1"/>
          <p:nvPr/>
        </p:nvSpPr>
        <p:spPr>
          <a:xfrm>
            <a:off x="1866900" y="3874125"/>
            <a:ext cx="16764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FFC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揭露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90B6D44-6BE4-CC62-E902-4546AF27BA27}"/>
              </a:ext>
            </a:extLst>
          </p:cNvPr>
          <p:cNvSpPr txBox="1"/>
          <p:nvPr/>
        </p:nvSpPr>
        <p:spPr>
          <a:xfrm>
            <a:off x="1177290" y="5160050"/>
            <a:ext cx="3048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altLang="zh-TW" sz="2200" b="1" dirty="0">
                <a:solidFill>
                  <a:srgbClr val="FF2D2D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MARK · </a:t>
            </a:r>
            <a:r>
              <a:rPr lang="zh-TW" altLang="en-US" sz="2200" b="1" dirty="0">
                <a:solidFill>
                  <a:srgbClr val="FF2D2D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外環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6767DCB5-489A-6E56-A3D7-63A90697953E}"/>
              </a:ext>
            </a:extLst>
          </p:cNvPr>
          <p:cNvSpPr/>
          <p:nvPr/>
        </p:nvSpPr>
        <p:spPr>
          <a:xfrm>
            <a:off x="1422400" y="5829300"/>
            <a:ext cx="2565400" cy="482600"/>
          </a:xfrm>
          <a:prstGeom prst="roundRect">
            <a:avLst/>
          </a:prstGeom>
          <a:solidFill>
            <a:srgbClr val="080E16">
              <a:alpha val="98000"/>
            </a:srgbClr>
          </a:solidFill>
          <a:ln w="25400">
            <a:solidFill>
              <a:srgbClr val="FFB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AC3B03F-4B5E-517A-E6F6-ED7D51212D4F}"/>
              </a:ext>
            </a:extLst>
          </p:cNvPr>
          <p:cNvSpPr txBox="1"/>
          <p:nvPr/>
        </p:nvSpPr>
        <p:spPr>
          <a:xfrm>
            <a:off x="1473200" y="59309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FFB000"/>
                </a:solidFill>
                <a:latin typeface="Bahnschrift" panose="020B0502040204020203" pitchFamily="34" charset="0"/>
                <a:ea typeface="Microsoft JhengHei UI" panose="020B0604030504040204" pitchFamily="34" charset="-120"/>
              </a:rPr>
              <a:t>PAUSE</a:t>
            </a:r>
            <a:endParaRPr lang="zh-TW" altLang="en-US" b="1" dirty="0">
              <a:solidFill>
                <a:srgbClr val="FFB000"/>
              </a:solidFill>
              <a:latin typeface="Bahnschrift" panose="020B0502040204020203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909820B-BF28-BBEE-3559-3CCBF1D90008}"/>
              </a:ext>
            </a:extLst>
          </p:cNvPr>
          <p:cNvSpPr/>
          <p:nvPr/>
        </p:nvSpPr>
        <p:spPr>
          <a:xfrm>
            <a:off x="5410200" y="1943100"/>
            <a:ext cx="2082800" cy="889000"/>
          </a:xfrm>
          <a:prstGeom prst="rect">
            <a:avLst/>
          </a:prstGeom>
          <a:solidFill>
            <a:srgbClr val="080E16">
              <a:alpha val="96000"/>
            </a:srgbClr>
          </a:solidFill>
          <a:ln w="17780">
            <a:solidFill>
              <a:srgbClr val="00FF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FB4A2C3-239F-A772-26D7-C960DE92D908}"/>
              </a:ext>
            </a:extLst>
          </p:cNvPr>
          <p:cNvSpPr/>
          <p:nvPr/>
        </p:nvSpPr>
        <p:spPr>
          <a:xfrm>
            <a:off x="7493000" y="1943100"/>
            <a:ext cx="4191000" cy="8890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4664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B759690F-EDDE-5F3E-3EEB-E838B888EB3C}"/>
              </a:ext>
            </a:extLst>
          </p:cNvPr>
          <p:cNvSpPr txBox="1"/>
          <p:nvPr/>
        </p:nvSpPr>
        <p:spPr>
          <a:xfrm>
            <a:off x="5613400" y="2184400"/>
            <a:ext cx="16764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200" b="1">
                <a:solidFill>
                  <a:srgbClr val="00FFE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待機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82684CC-2958-3539-8BB3-AD08F28E5C8A}"/>
              </a:ext>
            </a:extLst>
          </p:cNvPr>
          <p:cNvSpPr txBox="1"/>
          <p:nvPr/>
        </p:nvSpPr>
        <p:spPr>
          <a:xfrm>
            <a:off x="7581900" y="2231041"/>
            <a:ext cx="3683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中央＝</a:t>
            </a:r>
            <a:r>
              <a:rPr lang="en-US" altLang="zh-TW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START</a:t>
            </a:r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，直接開始計時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34387F4-D37A-88D1-9992-48D6FB10444C}"/>
              </a:ext>
            </a:extLst>
          </p:cNvPr>
          <p:cNvSpPr/>
          <p:nvPr/>
        </p:nvSpPr>
        <p:spPr>
          <a:xfrm>
            <a:off x="5410200" y="2984500"/>
            <a:ext cx="2082800" cy="889000"/>
          </a:xfrm>
          <a:prstGeom prst="rect">
            <a:avLst/>
          </a:prstGeom>
          <a:solidFill>
            <a:srgbClr val="080E16">
              <a:alpha val="96000"/>
            </a:srgbClr>
          </a:solidFill>
          <a:ln w="17780">
            <a:solidFill>
              <a:srgbClr val="39FF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F633D4A-EA8A-7839-C4A6-790594FA682E}"/>
              </a:ext>
            </a:extLst>
          </p:cNvPr>
          <p:cNvSpPr/>
          <p:nvPr/>
        </p:nvSpPr>
        <p:spPr>
          <a:xfrm>
            <a:off x="7493000" y="2984500"/>
            <a:ext cx="4191000" cy="8890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4664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40145234-396A-2F74-4494-37C66DDEE20E}"/>
              </a:ext>
            </a:extLst>
          </p:cNvPr>
          <p:cNvSpPr txBox="1"/>
          <p:nvPr/>
        </p:nvSpPr>
        <p:spPr>
          <a:xfrm>
            <a:off x="5613400" y="3225800"/>
            <a:ext cx="16764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200" b="1">
                <a:solidFill>
                  <a:srgbClr val="39FF1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遊戲中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034CE2EF-16E7-CC96-5A28-8756F3647F76}"/>
              </a:ext>
            </a:extLst>
          </p:cNvPr>
          <p:cNvSpPr txBox="1"/>
          <p:nvPr/>
        </p:nvSpPr>
        <p:spPr>
          <a:xfrm>
            <a:off x="7569201" y="3251497"/>
            <a:ext cx="4114799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內 </a:t>
            </a:r>
            <a:r>
              <a:rPr lang="en-US" altLang="zh-TW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SCAN</a:t>
            </a:r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｜外 </a:t>
            </a:r>
            <a:r>
              <a:rPr lang="en-US" altLang="zh-TW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MARK</a:t>
            </a:r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｜下方 </a:t>
            </a:r>
            <a:r>
              <a:rPr lang="en-US" altLang="zh-TW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PAUSE</a:t>
            </a:r>
            <a:endParaRPr lang="zh-TW" altLang="en-US" sz="2000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84A0055-C2F1-E8B0-4BFE-D727689D0B9F}"/>
              </a:ext>
            </a:extLst>
          </p:cNvPr>
          <p:cNvSpPr/>
          <p:nvPr/>
        </p:nvSpPr>
        <p:spPr>
          <a:xfrm>
            <a:off x="5410200" y="4025900"/>
            <a:ext cx="2082800" cy="889000"/>
          </a:xfrm>
          <a:prstGeom prst="rect">
            <a:avLst/>
          </a:prstGeom>
          <a:solidFill>
            <a:srgbClr val="080E16">
              <a:alpha val="96000"/>
            </a:srgbClr>
          </a:solidFill>
          <a:ln w="17780">
            <a:solidFill>
              <a:srgbClr val="FFB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876D506-541D-9775-B63F-06A0438D55CE}"/>
              </a:ext>
            </a:extLst>
          </p:cNvPr>
          <p:cNvSpPr/>
          <p:nvPr/>
        </p:nvSpPr>
        <p:spPr>
          <a:xfrm>
            <a:off x="7493000" y="4025900"/>
            <a:ext cx="4191000" cy="8890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4664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BBDA3456-1FA4-35B4-2BE5-B0541308C767}"/>
              </a:ext>
            </a:extLst>
          </p:cNvPr>
          <p:cNvSpPr txBox="1"/>
          <p:nvPr/>
        </p:nvSpPr>
        <p:spPr>
          <a:xfrm>
            <a:off x="5613400" y="4267200"/>
            <a:ext cx="16764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200" b="1">
                <a:solidFill>
                  <a:srgbClr val="FFB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暫停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358F5D9D-4D68-DB4F-8922-CF92527B5A1B}"/>
              </a:ext>
            </a:extLst>
          </p:cNvPr>
          <p:cNvSpPr txBox="1"/>
          <p:nvPr/>
        </p:nvSpPr>
        <p:spPr>
          <a:xfrm>
            <a:off x="7581900" y="4319141"/>
            <a:ext cx="3683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內 </a:t>
            </a:r>
            <a:r>
              <a:rPr lang="en-US" altLang="zh-TW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RESUME</a:t>
            </a:r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｜外 </a:t>
            </a:r>
            <a:r>
              <a:rPr lang="en-US" altLang="zh-TW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ABORT</a:t>
            </a:r>
            <a:endParaRPr lang="zh-TW" altLang="en-US" sz="2000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E6C0E79-1D6D-3345-7A2B-3A5026407B01}"/>
              </a:ext>
            </a:extLst>
          </p:cNvPr>
          <p:cNvSpPr/>
          <p:nvPr/>
        </p:nvSpPr>
        <p:spPr>
          <a:xfrm>
            <a:off x="5410200" y="5067300"/>
            <a:ext cx="2082800" cy="889000"/>
          </a:xfrm>
          <a:prstGeom prst="rect">
            <a:avLst/>
          </a:prstGeom>
          <a:solidFill>
            <a:srgbClr val="080E16">
              <a:alpha val="96000"/>
            </a:srgbClr>
          </a:solidFill>
          <a:ln w="17780">
            <a:solidFill>
              <a:srgbClr val="FF17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6232C82-4D1E-5A33-3B40-B86E0E1DA84E}"/>
              </a:ext>
            </a:extLst>
          </p:cNvPr>
          <p:cNvSpPr/>
          <p:nvPr/>
        </p:nvSpPr>
        <p:spPr>
          <a:xfrm>
            <a:off x="7493000" y="5067300"/>
            <a:ext cx="4191000" cy="8890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4664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0632B88B-1E97-DD07-B4CB-710D9C446214}"/>
              </a:ext>
            </a:extLst>
          </p:cNvPr>
          <p:cNvSpPr txBox="1"/>
          <p:nvPr/>
        </p:nvSpPr>
        <p:spPr>
          <a:xfrm>
            <a:off x="5613400" y="5308600"/>
            <a:ext cx="16764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200" b="1">
                <a:solidFill>
                  <a:srgbClr val="FF174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遊戲結束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F37B1058-B823-AB15-B031-BAB2C728BE01}"/>
              </a:ext>
            </a:extLst>
          </p:cNvPr>
          <p:cNvSpPr txBox="1"/>
          <p:nvPr/>
        </p:nvSpPr>
        <p:spPr>
          <a:xfrm>
            <a:off x="7573917" y="5344963"/>
            <a:ext cx="3683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恢復待機，計時器歸零</a:t>
            </a:r>
          </a:p>
        </p:txBody>
      </p:sp>
    </p:spTree>
    <p:extLst>
      <p:ext uri="{BB962C8B-B14F-4D97-AF65-F5344CB8AC3E}">
        <p14:creationId xmlns:p14="http://schemas.microsoft.com/office/powerpoint/2010/main" val="1150630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41F80C7-43AD-7CE8-97B1-30A6E8B421D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BCEA96D-F484-1264-F007-14488B5602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60A">
              <a:alpha val="7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4990A4-A037-DCBC-0597-28BA202064BD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00FF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89AD46-CA27-7B2F-AB29-A2EF0186F17D}"/>
              </a:ext>
            </a:extLst>
          </p:cNvPr>
          <p:cNvSpPr/>
          <p:nvPr/>
        </p:nvSpPr>
        <p:spPr>
          <a:xfrm>
            <a:off x="0" y="6769100"/>
            <a:ext cx="12192000" cy="88900"/>
          </a:xfrm>
          <a:prstGeom prst="rect">
            <a:avLst/>
          </a:prstGeom>
          <a:solidFill>
            <a:srgbClr val="FF2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F07A16-D358-747F-BB72-02DA6C14A740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04060A">
              <a:alpha val="9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61F7CB9-32EE-7250-9526-17E4A4762214}"/>
              </a:ext>
            </a:extLst>
          </p:cNvPr>
          <p:cNvSpPr txBox="1"/>
          <p:nvPr/>
        </p:nvSpPr>
        <p:spPr>
          <a:xfrm>
            <a:off x="431800" y="241300"/>
            <a:ext cx="546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200" b="1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// 05 · 704 MINESWEEPER</a:t>
            </a:r>
            <a:endParaRPr lang="zh-TW" altLang="en-US" sz="1200" b="1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92DD74D-F124-D061-C3D1-93C7EF0BD78C}"/>
              </a:ext>
            </a:extLst>
          </p:cNvPr>
          <p:cNvSpPr txBox="1"/>
          <p:nvPr/>
        </p:nvSpPr>
        <p:spPr>
          <a:xfrm>
            <a:off x="431800" y="571500"/>
            <a:ext cx="10795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遊戲規則 </a:t>
            </a:r>
            <a:r>
              <a:rPr lang="en-US" altLang="zh-TW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 </a:t>
            </a:r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踩地雷基本操作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B2F0F00-ED54-DA2B-99EC-8F33CA12946A}"/>
              </a:ext>
            </a:extLst>
          </p:cNvPr>
          <p:cNvSpPr txBox="1"/>
          <p:nvPr/>
        </p:nvSpPr>
        <p:spPr>
          <a:xfrm>
            <a:off x="469900" y="1117600"/>
            <a:ext cx="10795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400">
                <a:solidFill>
                  <a:srgbClr val="A5BEC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模式選好後，直接摸牆執行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94055DD-A637-B8B8-ADB2-FCC6E864178C}"/>
              </a:ext>
            </a:extLst>
          </p:cNvPr>
          <p:cNvSpPr txBox="1"/>
          <p:nvPr/>
        </p:nvSpPr>
        <p:spPr>
          <a:xfrm>
            <a:off x="11112500" y="6400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1200" b="1">
                <a:solidFill>
                  <a:srgbClr val="466478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05/09</a:t>
            </a:r>
            <a:endParaRPr lang="zh-TW" altLang="en-US" sz="1200" b="1">
              <a:solidFill>
                <a:srgbClr val="466478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93F1BDB-0D14-4EA5-399C-CA182DF1E77B}"/>
              </a:ext>
            </a:extLst>
          </p:cNvPr>
          <p:cNvSpPr/>
          <p:nvPr/>
        </p:nvSpPr>
        <p:spPr>
          <a:xfrm>
            <a:off x="317500" y="1600200"/>
            <a:ext cx="11557000" cy="4724400"/>
          </a:xfrm>
          <a:prstGeom prst="roundRect">
            <a:avLst/>
          </a:prstGeom>
          <a:solidFill>
            <a:srgbClr val="04060A">
              <a:alpha val="86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E10DC94-9C29-A48F-45FF-5D949FBC2D06}"/>
              </a:ext>
            </a:extLst>
          </p:cNvPr>
          <p:cNvSpPr/>
          <p:nvPr/>
        </p:nvSpPr>
        <p:spPr>
          <a:xfrm>
            <a:off x="571500" y="1905000"/>
            <a:ext cx="5207000" cy="3886200"/>
          </a:xfrm>
          <a:prstGeom prst="roundRect">
            <a:avLst/>
          </a:prstGeom>
          <a:solidFill>
            <a:srgbClr val="080E16">
              <a:alpha val="94000"/>
            </a:srgbClr>
          </a:solidFill>
          <a:ln w="2286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C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EA3079A-7208-CC70-EBE0-7784B15A6064}"/>
              </a:ext>
            </a:extLst>
          </p:cNvPr>
          <p:cNvSpPr/>
          <p:nvPr/>
        </p:nvSpPr>
        <p:spPr>
          <a:xfrm>
            <a:off x="571500" y="1905000"/>
            <a:ext cx="101600" cy="3886200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chemeClr val="accent1">
                <a:shade val="1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C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C0F14A1-5634-D807-282D-DF9E24B80F53}"/>
              </a:ext>
            </a:extLst>
          </p:cNvPr>
          <p:cNvSpPr txBox="1"/>
          <p:nvPr/>
        </p:nvSpPr>
        <p:spPr>
          <a:xfrm>
            <a:off x="825500" y="2369412"/>
            <a:ext cx="47625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TW" sz="2300" b="1" dirty="0">
                <a:solidFill>
                  <a:srgbClr val="FFC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SCAN</a:t>
            </a:r>
            <a:r>
              <a:rPr lang="zh-TW" altLang="en-US" sz="2300" b="1" dirty="0">
                <a:solidFill>
                  <a:srgbClr val="FFC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｜揭露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9DDED67-E30D-530C-92E6-1C2A0D664961}"/>
              </a:ext>
            </a:extLst>
          </p:cNvPr>
          <p:cNvSpPr txBox="1"/>
          <p:nvPr/>
        </p:nvSpPr>
        <p:spPr>
          <a:xfrm>
            <a:off x="812800" y="3076669"/>
            <a:ext cx="4724400" cy="231345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TW" sz="21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1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遊戲預設模式</a:t>
            </a:r>
          </a:p>
          <a:p>
            <a:endParaRPr lang="zh-TW" altLang="en-US" sz="2100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sz="21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1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數字＝周圍八公格的地雷數</a:t>
            </a:r>
          </a:p>
          <a:p>
            <a:endParaRPr lang="zh-TW" altLang="en-US" sz="2100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sz="21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0 </a:t>
            </a:r>
            <a:r>
              <a:rPr lang="zh-TW" altLang="en-US" sz="21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格會自動展開安全區</a:t>
            </a:r>
          </a:p>
          <a:p>
            <a:endParaRPr lang="zh-TW" altLang="en-US" sz="2100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sz="21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1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插旗格不會被揭露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B8DF1711-0B9E-64DF-BDAE-1E110BAFCEE3}"/>
              </a:ext>
            </a:extLst>
          </p:cNvPr>
          <p:cNvSpPr/>
          <p:nvPr/>
        </p:nvSpPr>
        <p:spPr>
          <a:xfrm>
            <a:off x="6413500" y="1905000"/>
            <a:ext cx="5207000" cy="3886200"/>
          </a:xfrm>
          <a:prstGeom prst="roundRect">
            <a:avLst/>
          </a:prstGeom>
          <a:solidFill>
            <a:srgbClr val="080E16">
              <a:alpha val="94000"/>
            </a:srgbClr>
          </a:solidFill>
          <a:ln w="22860">
            <a:solidFill>
              <a:srgbClr val="FF2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DE64EC0-7D4C-865F-C7A9-7E42AA9BB616}"/>
              </a:ext>
            </a:extLst>
          </p:cNvPr>
          <p:cNvSpPr/>
          <p:nvPr/>
        </p:nvSpPr>
        <p:spPr>
          <a:xfrm>
            <a:off x="6413500" y="1905000"/>
            <a:ext cx="101600" cy="3886200"/>
          </a:xfrm>
          <a:prstGeom prst="rect">
            <a:avLst/>
          </a:prstGeom>
          <a:solidFill>
            <a:srgbClr val="FF2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02772FB-6270-F9EA-DA94-E90D1A738099}"/>
              </a:ext>
            </a:extLst>
          </p:cNvPr>
          <p:cNvSpPr txBox="1"/>
          <p:nvPr/>
        </p:nvSpPr>
        <p:spPr>
          <a:xfrm>
            <a:off x="6667500" y="2369413"/>
            <a:ext cx="47625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TW" sz="23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MARK</a:t>
            </a:r>
            <a:r>
              <a:rPr lang="zh-TW" altLang="en-US" sz="23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｜插旗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789F817-CAF7-6FBE-7093-341F30A8903F}"/>
              </a:ext>
            </a:extLst>
          </p:cNvPr>
          <p:cNvSpPr txBox="1"/>
          <p:nvPr/>
        </p:nvSpPr>
        <p:spPr>
          <a:xfrm>
            <a:off x="6667500" y="3121119"/>
            <a:ext cx="4724400" cy="231345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TW" sz="21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1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踩外環切換 </a:t>
            </a:r>
            <a:r>
              <a:rPr lang="en-US" altLang="zh-TW" sz="21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MARK</a:t>
            </a:r>
          </a:p>
          <a:p>
            <a:endParaRPr lang="en-US" altLang="zh-TW" sz="2100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sz="21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1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摸牆插旗，再摸一次拔旗</a:t>
            </a:r>
          </a:p>
          <a:p>
            <a:endParaRPr lang="zh-TW" altLang="en-US" sz="2100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sz="21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1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旗子只是玩家判斷</a:t>
            </a:r>
          </a:p>
          <a:p>
            <a:endParaRPr lang="zh-TW" altLang="en-US" sz="2100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sz="21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1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旗子不算已揭露</a:t>
            </a:r>
          </a:p>
        </p:txBody>
      </p:sp>
    </p:spTree>
    <p:extLst>
      <p:ext uri="{BB962C8B-B14F-4D97-AF65-F5344CB8AC3E}">
        <p14:creationId xmlns:p14="http://schemas.microsoft.com/office/powerpoint/2010/main" val="2660925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AD1DCB6-E5EC-9483-8DDE-E54F51ECF87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8657802-23DE-C82F-3C8A-09EEB73E58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60A">
              <a:alpha val="7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9CA371-A0D4-F59A-A087-976010FCD04C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00FF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B921BF-0292-69D0-A92B-EC904F670888}"/>
              </a:ext>
            </a:extLst>
          </p:cNvPr>
          <p:cNvSpPr/>
          <p:nvPr/>
        </p:nvSpPr>
        <p:spPr>
          <a:xfrm>
            <a:off x="0" y="6769100"/>
            <a:ext cx="12192000" cy="88900"/>
          </a:xfrm>
          <a:prstGeom prst="rect">
            <a:avLst/>
          </a:prstGeom>
          <a:solidFill>
            <a:srgbClr val="FF2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C5008C-5F7E-89A1-742E-028407AC51FD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04060A">
              <a:alpha val="9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D5E425C-DD94-7949-C7EC-10891F183F4F}"/>
              </a:ext>
            </a:extLst>
          </p:cNvPr>
          <p:cNvSpPr txBox="1"/>
          <p:nvPr/>
        </p:nvSpPr>
        <p:spPr>
          <a:xfrm>
            <a:off x="431800" y="241300"/>
            <a:ext cx="546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200" b="1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// 06 · 704 MINESWEEPER</a:t>
            </a:r>
            <a:endParaRPr lang="zh-TW" altLang="en-US" sz="1200" b="1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7636F73-A47C-99A8-9C9E-71149AD7194E}"/>
              </a:ext>
            </a:extLst>
          </p:cNvPr>
          <p:cNvSpPr txBox="1"/>
          <p:nvPr/>
        </p:nvSpPr>
        <p:spPr>
          <a:xfrm>
            <a:off x="431800" y="571500"/>
            <a:ext cx="10795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遊戲規則 </a:t>
            </a:r>
            <a:r>
              <a:rPr lang="en-US" altLang="zh-TW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補充說明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98AA471-A6E0-9488-8C1A-2C0261E375C1}"/>
              </a:ext>
            </a:extLst>
          </p:cNvPr>
          <p:cNvSpPr txBox="1"/>
          <p:nvPr/>
        </p:nvSpPr>
        <p:spPr>
          <a:xfrm>
            <a:off x="469900" y="1117600"/>
            <a:ext cx="10795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400">
                <a:solidFill>
                  <a:srgbClr val="A5BEC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遊戲不會因踩到一顆雷立刻結束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1ADC086-458E-7AFA-6F0D-BFDE327CEE2E}"/>
              </a:ext>
            </a:extLst>
          </p:cNvPr>
          <p:cNvSpPr txBox="1"/>
          <p:nvPr/>
        </p:nvSpPr>
        <p:spPr>
          <a:xfrm>
            <a:off x="11112500" y="6400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1200" b="1">
                <a:solidFill>
                  <a:srgbClr val="466478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06/09</a:t>
            </a:r>
            <a:endParaRPr lang="zh-TW" altLang="en-US" sz="1200" b="1">
              <a:solidFill>
                <a:srgbClr val="466478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25C7A77-7B49-B6CF-E927-D17792584AFF}"/>
              </a:ext>
            </a:extLst>
          </p:cNvPr>
          <p:cNvSpPr/>
          <p:nvPr/>
        </p:nvSpPr>
        <p:spPr>
          <a:xfrm>
            <a:off x="304800" y="1600200"/>
            <a:ext cx="11582400" cy="4749800"/>
          </a:xfrm>
          <a:prstGeom prst="roundRect">
            <a:avLst/>
          </a:prstGeom>
          <a:solidFill>
            <a:srgbClr val="04060A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8447B657-FD44-6253-EE1A-ACA8FD332A92}"/>
              </a:ext>
            </a:extLst>
          </p:cNvPr>
          <p:cNvSpPr/>
          <p:nvPr/>
        </p:nvSpPr>
        <p:spPr>
          <a:xfrm>
            <a:off x="533400" y="1854200"/>
            <a:ext cx="3530600" cy="4191000"/>
          </a:xfrm>
          <a:prstGeom prst="roundRect">
            <a:avLst/>
          </a:prstGeom>
          <a:solidFill>
            <a:srgbClr val="080E16">
              <a:alpha val="94000"/>
            </a:srgbClr>
          </a:solidFill>
          <a:ln w="22860">
            <a:solidFill>
              <a:srgbClr val="39FF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0A3B035-1E19-6BB1-2045-3F7123258878}"/>
              </a:ext>
            </a:extLst>
          </p:cNvPr>
          <p:cNvSpPr txBox="1"/>
          <p:nvPr/>
        </p:nvSpPr>
        <p:spPr>
          <a:xfrm>
            <a:off x="787400" y="2346675"/>
            <a:ext cx="30861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300" b="1" dirty="0">
                <a:solidFill>
                  <a:srgbClr val="39FF1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第一次揭露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D66661C-B58D-D3F4-8822-3F1DCF837DE8}"/>
              </a:ext>
            </a:extLst>
          </p:cNvPr>
          <p:cNvSpPr txBox="1"/>
          <p:nvPr/>
        </p:nvSpPr>
        <p:spPr>
          <a:xfrm>
            <a:off x="787400" y="3145366"/>
            <a:ext cx="3048000" cy="140551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2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目標格＋鄰近格</a:t>
            </a:r>
          </a:p>
          <a:p>
            <a:r>
              <a:rPr lang="zh-TW" altLang="en-US" sz="2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保證</a:t>
            </a:r>
            <a:r>
              <a:rPr lang="zh-TW" altLang="en-US" sz="22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不是地雷。</a:t>
            </a:r>
          </a:p>
          <a:p>
            <a:endParaRPr lang="zh-TW" altLang="en-US" sz="2200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sz="22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避免玩家一開局就踩雷。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ECEC65DA-7F0B-8CA6-7B44-7C6FB99A3B7C}"/>
              </a:ext>
            </a:extLst>
          </p:cNvPr>
          <p:cNvSpPr/>
          <p:nvPr/>
        </p:nvSpPr>
        <p:spPr>
          <a:xfrm>
            <a:off x="4330700" y="1854200"/>
            <a:ext cx="3530600" cy="4191000"/>
          </a:xfrm>
          <a:prstGeom prst="roundRect">
            <a:avLst/>
          </a:prstGeom>
          <a:solidFill>
            <a:srgbClr val="080E16">
              <a:alpha val="94000"/>
            </a:srgbClr>
          </a:solidFill>
          <a:ln w="22860">
            <a:solidFill>
              <a:srgbClr val="FF17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8E17410-177F-FE99-0428-8AAFA4BAF618}"/>
              </a:ext>
            </a:extLst>
          </p:cNvPr>
          <p:cNvSpPr txBox="1"/>
          <p:nvPr/>
        </p:nvSpPr>
        <p:spPr>
          <a:xfrm>
            <a:off x="4565650" y="2327958"/>
            <a:ext cx="30861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300" b="1" dirty="0">
                <a:solidFill>
                  <a:srgbClr val="FF174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不小心踩雷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31A4CDE-78E2-E45B-4673-DD67A225657B}"/>
              </a:ext>
            </a:extLst>
          </p:cNvPr>
          <p:cNvSpPr txBox="1"/>
          <p:nvPr/>
        </p:nvSpPr>
        <p:spPr>
          <a:xfrm>
            <a:off x="4584700" y="3145366"/>
            <a:ext cx="3048000" cy="140551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20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紅色效果擴散，</a:t>
            </a:r>
          </a:p>
          <a:p>
            <a:r>
              <a:rPr lang="zh-TW" altLang="en-US" sz="220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全部操作停止 </a:t>
            </a:r>
            <a:r>
              <a:rPr lang="en-US" altLang="zh-TW" sz="220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 </a:t>
            </a:r>
            <a:r>
              <a:rPr lang="zh-TW" altLang="en-US" sz="220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秒。</a:t>
            </a:r>
          </a:p>
          <a:p>
            <a:endParaRPr lang="zh-TW" altLang="en-US" sz="220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sz="220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 </a:t>
            </a:r>
            <a:r>
              <a:rPr lang="zh-TW" altLang="en-US" sz="220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秒後繼續同一局。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20897E0E-324F-8746-31FA-A498701FD69F}"/>
              </a:ext>
            </a:extLst>
          </p:cNvPr>
          <p:cNvSpPr/>
          <p:nvPr/>
        </p:nvSpPr>
        <p:spPr>
          <a:xfrm>
            <a:off x="8128000" y="1854200"/>
            <a:ext cx="3530600" cy="4191000"/>
          </a:xfrm>
          <a:prstGeom prst="roundRect">
            <a:avLst/>
          </a:prstGeom>
          <a:solidFill>
            <a:srgbClr val="080E16">
              <a:alpha val="94000"/>
            </a:srgbClr>
          </a:solidFill>
          <a:ln w="22860">
            <a:solidFill>
              <a:srgbClr val="FF2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D6B6D35-0B68-7429-E866-BB2A1563483E}"/>
              </a:ext>
            </a:extLst>
          </p:cNvPr>
          <p:cNvSpPr txBox="1"/>
          <p:nvPr/>
        </p:nvSpPr>
        <p:spPr>
          <a:xfrm>
            <a:off x="8382000" y="2057648"/>
            <a:ext cx="3086100" cy="75918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3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標記錯誤</a:t>
            </a:r>
            <a:endParaRPr lang="en-US" altLang="zh-TW" sz="2300" b="1" dirty="0">
              <a:solidFill>
                <a:srgbClr val="FF2D8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sz="23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23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標記到正常格子時</a:t>
            </a:r>
            <a:r>
              <a:rPr lang="en-US" altLang="zh-TW" sz="23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zh-TW" altLang="en-US" sz="2300" b="1" dirty="0">
              <a:solidFill>
                <a:srgbClr val="FF2D8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08094B3-6EEC-219D-6A60-E39CF9D1A626}"/>
              </a:ext>
            </a:extLst>
          </p:cNvPr>
          <p:cNvSpPr txBox="1"/>
          <p:nvPr/>
        </p:nvSpPr>
        <p:spPr>
          <a:xfrm>
            <a:off x="8382000" y="3145366"/>
            <a:ext cx="3048000" cy="16671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10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遊戲中不揭曉。</a:t>
            </a:r>
          </a:p>
          <a:p>
            <a:endParaRPr lang="zh-TW" altLang="en-US" sz="210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sz="210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結束後，插錯旗的格子顯示真實數字；仍不算完成進度。</a:t>
            </a:r>
          </a:p>
        </p:txBody>
      </p:sp>
    </p:spTree>
    <p:extLst>
      <p:ext uri="{BB962C8B-B14F-4D97-AF65-F5344CB8AC3E}">
        <p14:creationId xmlns:p14="http://schemas.microsoft.com/office/powerpoint/2010/main" val="1097447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51A0BFD-B40A-9146-B45B-55BED3B5B44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1674370-6078-AA24-29F9-C67C16E756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60A">
              <a:alpha val="7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E3D77A-5745-6B4E-66DC-F74BD0F72FE0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00FF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ACBDA7-CD6B-2453-E426-F6C805AC5DA7}"/>
              </a:ext>
            </a:extLst>
          </p:cNvPr>
          <p:cNvSpPr/>
          <p:nvPr/>
        </p:nvSpPr>
        <p:spPr>
          <a:xfrm>
            <a:off x="0" y="6769100"/>
            <a:ext cx="12192000" cy="88900"/>
          </a:xfrm>
          <a:prstGeom prst="rect">
            <a:avLst/>
          </a:prstGeom>
          <a:solidFill>
            <a:srgbClr val="FF2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7484C3-B6CD-4817-FD70-D3404897332F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04060A">
              <a:alpha val="9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ABEFFB0-C7DD-BDD8-C078-865304E2520C}"/>
              </a:ext>
            </a:extLst>
          </p:cNvPr>
          <p:cNvSpPr txBox="1"/>
          <p:nvPr/>
        </p:nvSpPr>
        <p:spPr>
          <a:xfrm>
            <a:off x="431800" y="241300"/>
            <a:ext cx="546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200" b="1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// 07 · 704 MINESWEEPER</a:t>
            </a:r>
            <a:endParaRPr lang="zh-TW" altLang="en-US" sz="1200" b="1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6F56C2A-7550-BF6B-168E-4A132FD3ED9F}"/>
              </a:ext>
            </a:extLst>
          </p:cNvPr>
          <p:cNvSpPr txBox="1"/>
          <p:nvPr/>
        </p:nvSpPr>
        <p:spPr>
          <a:xfrm>
            <a:off x="431800" y="571500"/>
            <a:ext cx="10795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遊戲規則 </a:t>
            </a:r>
            <a:r>
              <a:rPr lang="en-US" altLang="zh-TW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地板按鈕的含意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DB03095-7E31-3ABD-B3E4-5B42D8086821}"/>
              </a:ext>
            </a:extLst>
          </p:cNvPr>
          <p:cNvSpPr txBox="1"/>
          <p:nvPr/>
        </p:nvSpPr>
        <p:spPr>
          <a:xfrm>
            <a:off x="469900" y="1117600"/>
            <a:ext cx="10795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400">
                <a:solidFill>
                  <a:srgbClr val="A5BEC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暫停畫面出現時，由玩家選擇繼續或放棄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280B235-F549-D00C-892B-835F18C268AB}"/>
              </a:ext>
            </a:extLst>
          </p:cNvPr>
          <p:cNvSpPr txBox="1"/>
          <p:nvPr/>
        </p:nvSpPr>
        <p:spPr>
          <a:xfrm>
            <a:off x="11112500" y="6400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1200" b="1">
                <a:solidFill>
                  <a:srgbClr val="466478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07/09</a:t>
            </a:r>
            <a:endParaRPr lang="zh-TW" altLang="en-US" sz="1200" b="1">
              <a:solidFill>
                <a:srgbClr val="466478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BBC4C9D-0A61-E82A-1731-378AC57A31CB}"/>
              </a:ext>
            </a:extLst>
          </p:cNvPr>
          <p:cNvSpPr/>
          <p:nvPr/>
        </p:nvSpPr>
        <p:spPr>
          <a:xfrm>
            <a:off x="317500" y="1625600"/>
            <a:ext cx="11557000" cy="4699000"/>
          </a:xfrm>
          <a:prstGeom prst="roundRect">
            <a:avLst/>
          </a:prstGeom>
          <a:solidFill>
            <a:srgbClr val="04060A">
              <a:alpha val="8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A5543CD-5F6A-1081-8726-869B5242E94F}"/>
              </a:ext>
            </a:extLst>
          </p:cNvPr>
          <p:cNvSpPr/>
          <p:nvPr/>
        </p:nvSpPr>
        <p:spPr>
          <a:xfrm>
            <a:off x="584200" y="1854200"/>
            <a:ext cx="3302000" cy="787400"/>
          </a:xfrm>
          <a:prstGeom prst="rect">
            <a:avLst/>
          </a:prstGeom>
          <a:solidFill>
            <a:srgbClr val="080E16">
              <a:alpha val="96000"/>
            </a:srgbClr>
          </a:solidFill>
          <a:ln w="15240">
            <a:solidFill>
              <a:srgbClr val="FFB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B8EBAB-8DA0-5327-2931-C86952CB370D}"/>
              </a:ext>
            </a:extLst>
          </p:cNvPr>
          <p:cNvSpPr/>
          <p:nvPr/>
        </p:nvSpPr>
        <p:spPr>
          <a:xfrm>
            <a:off x="4000500" y="1854200"/>
            <a:ext cx="7607300" cy="7874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4664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FB47163-592B-FC36-77FA-415915CE3DD1}"/>
              </a:ext>
            </a:extLst>
          </p:cNvPr>
          <p:cNvSpPr txBox="1"/>
          <p:nvPr/>
        </p:nvSpPr>
        <p:spPr>
          <a:xfrm>
            <a:off x="787400" y="2032000"/>
            <a:ext cx="2895600" cy="3744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TW" sz="2100" b="1">
                <a:solidFill>
                  <a:srgbClr val="FFB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PAUSE</a:t>
            </a:r>
            <a:endParaRPr lang="zh-TW" altLang="en-US" sz="2100" b="1">
              <a:solidFill>
                <a:srgbClr val="FFB00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57F2947-D4E3-D42C-993F-685D1A100567}"/>
              </a:ext>
            </a:extLst>
          </p:cNvPr>
          <p:cNvSpPr txBox="1"/>
          <p:nvPr/>
        </p:nvSpPr>
        <p:spPr>
          <a:xfrm>
            <a:off x="4140200" y="2107416"/>
            <a:ext cx="72136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9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遊戲與限時計時都暫停。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07D0BAC-9873-749E-1B5F-51B115411622}"/>
              </a:ext>
            </a:extLst>
          </p:cNvPr>
          <p:cNvSpPr/>
          <p:nvPr/>
        </p:nvSpPr>
        <p:spPr>
          <a:xfrm>
            <a:off x="584200" y="2768600"/>
            <a:ext cx="3302000" cy="787400"/>
          </a:xfrm>
          <a:prstGeom prst="rect">
            <a:avLst/>
          </a:prstGeom>
          <a:solidFill>
            <a:srgbClr val="080E16">
              <a:alpha val="96000"/>
            </a:srgbClr>
          </a:solidFill>
          <a:ln w="15240">
            <a:solidFill>
              <a:srgbClr val="39FF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7E54E24-78ED-E586-E39C-BE6393338D90}"/>
              </a:ext>
            </a:extLst>
          </p:cNvPr>
          <p:cNvSpPr/>
          <p:nvPr/>
        </p:nvSpPr>
        <p:spPr>
          <a:xfrm>
            <a:off x="4000500" y="2768600"/>
            <a:ext cx="7607300" cy="7874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4664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AFADDF2-82F1-E0A0-E4CB-5F7CAD7B9754}"/>
              </a:ext>
            </a:extLst>
          </p:cNvPr>
          <p:cNvSpPr txBox="1"/>
          <p:nvPr/>
        </p:nvSpPr>
        <p:spPr>
          <a:xfrm>
            <a:off x="787400" y="2946400"/>
            <a:ext cx="2895600" cy="3744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TW" sz="2100" b="1">
                <a:solidFill>
                  <a:srgbClr val="39FF1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RESUME</a:t>
            </a:r>
            <a:r>
              <a:rPr lang="zh-TW" altLang="en-US" sz="2100" b="1">
                <a:solidFill>
                  <a:srgbClr val="39FF1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｜內圈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955D5DD-6DBB-4952-9873-AF35F2AE40A6}"/>
              </a:ext>
            </a:extLst>
          </p:cNvPr>
          <p:cNvSpPr txBox="1"/>
          <p:nvPr/>
        </p:nvSpPr>
        <p:spPr>
          <a:xfrm>
            <a:off x="4140200" y="2977177"/>
            <a:ext cx="72136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9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從剩餘時間繼續遊戲。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A31A220-454A-3EF0-6D1D-BF9CA861E802}"/>
              </a:ext>
            </a:extLst>
          </p:cNvPr>
          <p:cNvSpPr/>
          <p:nvPr/>
        </p:nvSpPr>
        <p:spPr>
          <a:xfrm>
            <a:off x="584200" y="3683000"/>
            <a:ext cx="3302000" cy="787400"/>
          </a:xfrm>
          <a:prstGeom prst="rect">
            <a:avLst/>
          </a:prstGeom>
          <a:solidFill>
            <a:srgbClr val="080E16">
              <a:alpha val="96000"/>
            </a:srgbClr>
          </a:solidFill>
          <a:ln w="15240">
            <a:solidFill>
              <a:srgbClr val="FF17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C67E094-6C84-2C75-46B6-D5DAC2847924}"/>
              </a:ext>
            </a:extLst>
          </p:cNvPr>
          <p:cNvSpPr/>
          <p:nvPr/>
        </p:nvSpPr>
        <p:spPr>
          <a:xfrm>
            <a:off x="4000500" y="3683000"/>
            <a:ext cx="7607300" cy="7874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4664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F4A01C5-09B2-FB2A-2E97-3EB591F3BA12}"/>
              </a:ext>
            </a:extLst>
          </p:cNvPr>
          <p:cNvSpPr txBox="1"/>
          <p:nvPr/>
        </p:nvSpPr>
        <p:spPr>
          <a:xfrm>
            <a:off x="787400" y="3860800"/>
            <a:ext cx="2895600" cy="3744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TW" sz="2100" b="1">
                <a:solidFill>
                  <a:srgbClr val="FF174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ABORT</a:t>
            </a:r>
            <a:r>
              <a:rPr lang="zh-TW" altLang="en-US" sz="2100" b="1">
                <a:solidFill>
                  <a:srgbClr val="FF174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｜外環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7491383-48F7-A349-02CC-AB2E3517E519}"/>
              </a:ext>
            </a:extLst>
          </p:cNvPr>
          <p:cNvSpPr txBox="1"/>
          <p:nvPr/>
        </p:nvSpPr>
        <p:spPr>
          <a:xfrm>
            <a:off x="4140200" y="3883110"/>
            <a:ext cx="72136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9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放棄本局，立即回到待機。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20C09AD-6340-66EF-8108-0A928B7A61E9}"/>
              </a:ext>
            </a:extLst>
          </p:cNvPr>
          <p:cNvSpPr/>
          <p:nvPr/>
        </p:nvSpPr>
        <p:spPr>
          <a:xfrm>
            <a:off x="584200" y="4597400"/>
            <a:ext cx="3302000" cy="787400"/>
          </a:xfrm>
          <a:prstGeom prst="rect">
            <a:avLst/>
          </a:prstGeom>
          <a:solidFill>
            <a:srgbClr val="080E16">
              <a:alpha val="96000"/>
            </a:srgbClr>
          </a:solidFill>
          <a:ln w="15240">
            <a:solidFill>
              <a:srgbClr val="00FF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9070E71-2D0E-2983-7D06-CFB2CE369615}"/>
              </a:ext>
            </a:extLst>
          </p:cNvPr>
          <p:cNvSpPr/>
          <p:nvPr/>
        </p:nvSpPr>
        <p:spPr>
          <a:xfrm>
            <a:off x="4000500" y="4597400"/>
            <a:ext cx="7607300" cy="7874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4664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31AAC0F-4ACD-9C29-6166-167D7ED3E79F}"/>
              </a:ext>
            </a:extLst>
          </p:cNvPr>
          <p:cNvSpPr txBox="1"/>
          <p:nvPr/>
        </p:nvSpPr>
        <p:spPr>
          <a:xfrm>
            <a:off x="787400" y="4775200"/>
            <a:ext cx="2895600" cy="3744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100" b="1" dirty="0">
                <a:solidFill>
                  <a:srgbClr val="00FFE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勝利條件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D2B36DE-7AAD-9B2C-8DEB-AFEBE3A27CA1}"/>
              </a:ext>
            </a:extLst>
          </p:cNvPr>
          <p:cNvSpPr txBox="1"/>
          <p:nvPr/>
        </p:nvSpPr>
        <p:spPr>
          <a:xfrm>
            <a:off x="4140200" y="4819258"/>
            <a:ext cx="72136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9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揭露全部非地雷格。 </a:t>
            </a:r>
            <a:r>
              <a:rPr lang="en-US" altLang="zh-TW" sz="19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9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同時也是標記所有地雷格</a:t>
            </a:r>
            <a:r>
              <a:rPr lang="en-US" altLang="zh-TW" sz="19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zh-TW" altLang="en-US" sz="1900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ED88708-63F7-816F-6ECF-47499DF812DB}"/>
              </a:ext>
            </a:extLst>
          </p:cNvPr>
          <p:cNvSpPr/>
          <p:nvPr/>
        </p:nvSpPr>
        <p:spPr>
          <a:xfrm>
            <a:off x="584200" y="5511800"/>
            <a:ext cx="3302000" cy="787400"/>
          </a:xfrm>
          <a:prstGeom prst="rect">
            <a:avLst/>
          </a:prstGeom>
          <a:solidFill>
            <a:srgbClr val="080E16">
              <a:alpha val="96000"/>
            </a:srgbClr>
          </a:solidFill>
          <a:ln w="15240">
            <a:solidFill>
              <a:srgbClr val="FF2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80C5E8D-C584-E8CB-B99A-00514CE104BD}"/>
              </a:ext>
            </a:extLst>
          </p:cNvPr>
          <p:cNvSpPr/>
          <p:nvPr/>
        </p:nvSpPr>
        <p:spPr>
          <a:xfrm>
            <a:off x="4000500" y="5511800"/>
            <a:ext cx="7607300" cy="7874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4664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9C9F55A6-6E23-9E46-6FCE-925F962CD393}"/>
              </a:ext>
            </a:extLst>
          </p:cNvPr>
          <p:cNvSpPr txBox="1"/>
          <p:nvPr/>
        </p:nvSpPr>
        <p:spPr>
          <a:xfrm>
            <a:off x="787400" y="5689600"/>
            <a:ext cx="2895600" cy="3744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TW" sz="21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21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時間到</a:t>
            </a:r>
            <a:r>
              <a:rPr lang="en-US" altLang="zh-TW" sz="21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zh-TW" altLang="en-US" sz="2100" b="1" dirty="0">
              <a:solidFill>
                <a:srgbClr val="FF2D8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C4B61B2E-CA64-E6C9-D191-A837BF8691C0}"/>
              </a:ext>
            </a:extLst>
          </p:cNvPr>
          <p:cNvSpPr txBox="1"/>
          <p:nvPr/>
        </p:nvSpPr>
        <p:spPr>
          <a:xfrm>
            <a:off x="4140200" y="5733658"/>
            <a:ext cx="72136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9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啟用限時模式後，時間到即結束。</a:t>
            </a: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469AEC50-C101-25B8-7281-81A9A9D9B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017" y="103181"/>
            <a:ext cx="3033183" cy="452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575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E275B7A-2D01-8F2A-A1F2-FD34533DB92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3723C62-CFF5-90AC-2877-FA5E895055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60A">
              <a:alpha val="7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BA1403-46EB-8782-CED6-025F7071B72A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00FF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56AE5E-282B-086B-2806-CFF7B8DBA3A4}"/>
              </a:ext>
            </a:extLst>
          </p:cNvPr>
          <p:cNvSpPr/>
          <p:nvPr/>
        </p:nvSpPr>
        <p:spPr>
          <a:xfrm>
            <a:off x="0" y="6769100"/>
            <a:ext cx="12192000" cy="88900"/>
          </a:xfrm>
          <a:prstGeom prst="rect">
            <a:avLst/>
          </a:prstGeom>
          <a:solidFill>
            <a:srgbClr val="FF2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D5C6F2-8DC4-8DAF-0C74-2BF81A8B7F66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04060A">
              <a:alpha val="9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849AC5-AEF4-F69F-3020-1CEE88CCA8A5}"/>
              </a:ext>
            </a:extLst>
          </p:cNvPr>
          <p:cNvSpPr txBox="1"/>
          <p:nvPr/>
        </p:nvSpPr>
        <p:spPr>
          <a:xfrm>
            <a:off x="431800" y="241300"/>
            <a:ext cx="546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200" b="1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// 08 · 704 MINESWEEPER</a:t>
            </a:r>
            <a:endParaRPr lang="zh-TW" altLang="en-US" sz="1200" b="1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D7FFC1F-DF34-714F-809B-E857EDE2DBCA}"/>
              </a:ext>
            </a:extLst>
          </p:cNvPr>
          <p:cNvSpPr txBox="1"/>
          <p:nvPr/>
        </p:nvSpPr>
        <p:spPr>
          <a:xfrm>
            <a:off x="431800" y="551850"/>
            <a:ext cx="10795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輔助工具 </a:t>
            </a:r>
            <a:r>
              <a:rPr lang="en-US" altLang="zh-TW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LOCK</a:t>
            </a:r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按鈕｜敏感格子校正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50A38E1-F3CE-FB2E-6542-525B82342E53}"/>
              </a:ext>
            </a:extLst>
          </p:cNvPr>
          <p:cNvSpPr txBox="1"/>
          <p:nvPr/>
        </p:nvSpPr>
        <p:spPr>
          <a:xfrm>
            <a:off x="495300" y="1124805"/>
            <a:ext cx="10795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2000" dirty="0">
                <a:solidFill>
                  <a:srgbClr val="A5BEC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如果遇上敏感格子</a:t>
            </a:r>
            <a:r>
              <a:rPr lang="en-US" altLang="zh-TW" sz="2000" dirty="0">
                <a:solidFill>
                  <a:srgbClr val="A5BEC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or </a:t>
            </a:r>
            <a:r>
              <a:rPr lang="zh-TW" altLang="en-US" sz="2000" dirty="0">
                <a:solidFill>
                  <a:srgbClr val="A5BEC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晶片 </a:t>
            </a:r>
            <a:r>
              <a:rPr lang="en-US" altLang="zh-TW" sz="2000" dirty="0">
                <a:solidFill>
                  <a:srgbClr val="A5BEC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2000" dirty="0">
                <a:solidFill>
                  <a:srgbClr val="A5BEC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沒有踩卻會一直觸發的區域</a:t>
            </a:r>
            <a:r>
              <a:rPr lang="en-US" altLang="zh-TW" sz="2000" dirty="0">
                <a:solidFill>
                  <a:srgbClr val="A5BEC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zh-TW" altLang="en-US" sz="2000" dirty="0">
              <a:solidFill>
                <a:srgbClr val="A5BEC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5B0623E-BE32-AD00-0BDA-0296CECE03EE}"/>
              </a:ext>
            </a:extLst>
          </p:cNvPr>
          <p:cNvSpPr txBox="1"/>
          <p:nvPr/>
        </p:nvSpPr>
        <p:spPr>
          <a:xfrm>
            <a:off x="11112500" y="6400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1200" b="1">
                <a:solidFill>
                  <a:srgbClr val="466478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08/09</a:t>
            </a:r>
            <a:endParaRPr lang="zh-TW" altLang="en-US" sz="1200" b="1">
              <a:solidFill>
                <a:srgbClr val="466478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7E0F37B8-AF32-BC47-C9A4-246AA3BA30EA}"/>
              </a:ext>
            </a:extLst>
          </p:cNvPr>
          <p:cNvSpPr/>
          <p:nvPr/>
        </p:nvSpPr>
        <p:spPr>
          <a:xfrm>
            <a:off x="304800" y="1600200"/>
            <a:ext cx="11582400" cy="4749800"/>
          </a:xfrm>
          <a:prstGeom prst="roundRect">
            <a:avLst/>
          </a:prstGeom>
          <a:solidFill>
            <a:srgbClr val="04060A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BC10A14-0CC6-8B4D-9A05-C222785E0568}"/>
              </a:ext>
            </a:extLst>
          </p:cNvPr>
          <p:cNvSpPr/>
          <p:nvPr/>
        </p:nvSpPr>
        <p:spPr>
          <a:xfrm>
            <a:off x="533400" y="2184400"/>
            <a:ext cx="2616200" cy="3175000"/>
          </a:xfrm>
          <a:prstGeom prst="roundRect">
            <a:avLst/>
          </a:prstGeom>
          <a:solidFill>
            <a:srgbClr val="080E16">
              <a:alpha val="96000"/>
            </a:srgbClr>
          </a:solidFill>
          <a:ln w="19050">
            <a:solidFill>
              <a:srgbClr val="FFB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F7EC5464-3D73-A20B-FAB0-291AE44B0946}"/>
              </a:ext>
            </a:extLst>
          </p:cNvPr>
          <p:cNvSpPr/>
          <p:nvPr/>
        </p:nvSpPr>
        <p:spPr>
          <a:xfrm>
            <a:off x="1409700" y="1841500"/>
            <a:ext cx="863600" cy="863600"/>
          </a:xfrm>
          <a:prstGeom prst="ellipse">
            <a:avLst/>
          </a:prstGeom>
          <a:solidFill>
            <a:srgbClr val="04060A"/>
          </a:solidFill>
          <a:ln w="38100">
            <a:solidFill>
              <a:srgbClr val="FFB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4B38C97-38CC-C55A-94A7-BF41F821F64D}"/>
              </a:ext>
            </a:extLst>
          </p:cNvPr>
          <p:cNvSpPr txBox="1"/>
          <p:nvPr/>
        </p:nvSpPr>
        <p:spPr>
          <a:xfrm>
            <a:off x="1498600" y="2104023"/>
            <a:ext cx="685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2200" b="1" dirty="0">
                <a:solidFill>
                  <a:srgbClr val="FFB000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1</a:t>
            </a:r>
            <a:endParaRPr lang="zh-TW" altLang="en-US" sz="2200" b="1" dirty="0">
              <a:solidFill>
                <a:srgbClr val="FFB000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73DE419-1ED5-2B21-0426-9E0F11F61200}"/>
              </a:ext>
            </a:extLst>
          </p:cNvPr>
          <p:cNvSpPr txBox="1"/>
          <p:nvPr/>
        </p:nvSpPr>
        <p:spPr>
          <a:xfrm>
            <a:off x="711200" y="2984500"/>
            <a:ext cx="22606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sz="2400" b="1">
                <a:solidFill>
                  <a:srgbClr val="FFB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先清場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D9FB7F0-C20E-AC5D-F44B-0D9150D13BCD}"/>
              </a:ext>
            </a:extLst>
          </p:cNvPr>
          <p:cNvSpPr txBox="1"/>
          <p:nvPr/>
        </p:nvSpPr>
        <p:spPr>
          <a:xfrm>
            <a:off x="711200" y="3618048"/>
            <a:ext cx="2260600" cy="91307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校正期間不要讓玩家進場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7F713D61-FCC9-6E83-CB7F-C9C6BCE5A5C0}"/>
              </a:ext>
            </a:extLst>
          </p:cNvPr>
          <p:cNvSpPr/>
          <p:nvPr/>
        </p:nvSpPr>
        <p:spPr>
          <a:xfrm>
            <a:off x="3378200" y="2184400"/>
            <a:ext cx="2616200" cy="3175000"/>
          </a:xfrm>
          <a:prstGeom prst="roundRect">
            <a:avLst/>
          </a:prstGeom>
          <a:solidFill>
            <a:srgbClr val="080E16">
              <a:alpha val="96000"/>
            </a:srgbClr>
          </a:solidFill>
          <a:ln w="19050">
            <a:solidFill>
              <a:srgbClr val="00FF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8A13C8E9-FA22-58F3-9BB2-0CD5880582E9}"/>
              </a:ext>
            </a:extLst>
          </p:cNvPr>
          <p:cNvSpPr/>
          <p:nvPr/>
        </p:nvSpPr>
        <p:spPr>
          <a:xfrm>
            <a:off x="4254500" y="1841500"/>
            <a:ext cx="863600" cy="863600"/>
          </a:xfrm>
          <a:prstGeom prst="ellipse">
            <a:avLst/>
          </a:prstGeom>
          <a:solidFill>
            <a:srgbClr val="04060A"/>
          </a:solidFill>
          <a:ln w="38100">
            <a:solidFill>
              <a:srgbClr val="00FF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D7AA1F3-AF9A-A049-6AE1-FD473D28EFD5}"/>
              </a:ext>
            </a:extLst>
          </p:cNvPr>
          <p:cNvSpPr txBox="1"/>
          <p:nvPr/>
        </p:nvSpPr>
        <p:spPr>
          <a:xfrm>
            <a:off x="4343400" y="2104023"/>
            <a:ext cx="685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2200" b="1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2</a:t>
            </a:r>
            <a:endParaRPr lang="zh-TW" altLang="en-US" sz="2200" b="1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2EB92CD0-9D80-47BE-D728-AC7DED0133B0}"/>
              </a:ext>
            </a:extLst>
          </p:cNvPr>
          <p:cNvSpPr txBox="1"/>
          <p:nvPr/>
        </p:nvSpPr>
        <p:spPr>
          <a:xfrm>
            <a:off x="3556000" y="2984500"/>
            <a:ext cx="22606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sz="2400" b="1">
                <a:solidFill>
                  <a:srgbClr val="00FFE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按 </a:t>
            </a:r>
            <a:r>
              <a:rPr lang="en-US" altLang="zh-TW" sz="2400" b="1">
                <a:solidFill>
                  <a:srgbClr val="00FFE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LOCK</a:t>
            </a:r>
            <a:endParaRPr lang="zh-TW" altLang="en-US" sz="2400" b="1">
              <a:solidFill>
                <a:srgbClr val="00FFE5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D5FD334-FF5B-3FA5-CF85-D946192B1502}"/>
              </a:ext>
            </a:extLst>
          </p:cNvPr>
          <p:cNvSpPr txBox="1"/>
          <p:nvPr/>
        </p:nvSpPr>
        <p:spPr>
          <a:xfrm>
            <a:off x="3632200" y="3746500"/>
            <a:ext cx="2108200" cy="97462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等待系統</a:t>
            </a:r>
            <a:r>
              <a:rPr lang="zh-TW" altLang="en-US" sz="20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自動</a:t>
            </a:r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找出異常格</a:t>
            </a:r>
            <a:endParaRPr lang="en-US" altLang="zh-TW" sz="2000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algn="ctr"/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可大約停個</a:t>
            </a:r>
            <a:r>
              <a:rPr lang="en-US" altLang="zh-TW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30</a:t>
            </a:r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秒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A73059F9-4AA8-7809-511C-07CD8EA54E91}"/>
              </a:ext>
            </a:extLst>
          </p:cNvPr>
          <p:cNvSpPr/>
          <p:nvPr/>
        </p:nvSpPr>
        <p:spPr>
          <a:xfrm>
            <a:off x="6223000" y="2184400"/>
            <a:ext cx="2616200" cy="3175000"/>
          </a:xfrm>
          <a:prstGeom prst="roundRect">
            <a:avLst/>
          </a:prstGeom>
          <a:solidFill>
            <a:srgbClr val="080E16">
              <a:alpha val="96000"/>
            </a:srgbClr>
          </a:solidFill>
          <a:ln w="19050">
            <a:solidFill>
              <a:srgbClr val="FF2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9B43656F-EB9C-B65F-26BB-CF749AAC320D}"/>
              </a:ext>
            </a:extLst>
          </p:cNvPr>
          <p:cNvSpPr/>
          <p:nvPr/>
        </p:nvSpPr>
        <p:spPr>
          <a:xfrm>
            <a:off x="7099300" y="1841500"/>
            <a:ext cx="863600" cy="863600"/>
          </a:xfrm>
          <a:prstGeom prst="ellipse">
            <a:avLst/>
          </a:prstGeom>
          <a:solidFill>
            <a:srgbClr val="04060A"/>
          </a:solidFill>
          <a:ln w="38100">
            <a:solidFill>
              <a:srgbClr val="FF2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A517B0E-B71C-4DE6-28CF-2E17FAC91915}"/>
              </a:ext>
            </a:extLst>
          </p:cNvPr>
          <p:cNvSpPr txBox="1"/>
          <p:nvPr/>
        </p:nvSpPr>
        <p:spPr>
          <a:xfrm>
            <a:off x="7188200" y="2104023"/>
            <a:ext cx="685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2200" b="1">
                <a:solidFill>
                  <a:srgbClr val="FF2D8F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3</a:t>
            </a:r>
            <a:endParaRPr lang="zh-TW" altLang="en-US" sz="2200" b="1">
              <a:solidFill>
                <a:srgbClr val="FF2D8F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06EBE47-B16C-7677-D023-B86F3BE5E6ED}"/>
              </a:ext>
            </a:extLst>
          </p:cNvPr>
          <p:cNvSpPr txBox="1"/>
          <p:nvPr/>
        </p:nvSpPr>
        <p:spPr>
          <a:xfrm>
            <a:off x="6400800" y="2984500"/>
            <a:ext cx="2260600" cy="78996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確認標記</a:t>
            </a:r>
            <a:endParaRPr lang="en-US" altLang="zh-TW" sz="2400" b="1" dirty="0">
              <a:solidFill>
                <a:srgbClr val="FF2D8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algn="ctr"/>
            <a:r>
              <a:rPr lang="en-US" altLang="zh-TW" sz="24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24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如果有需要</a:t>
            </a:r>
            <a:r>
              <a:rPr lang="en-US" altLang="zh-TW" sz="2400" b="1" dirty="0">
                <a:solidFill>
                  <a:srgbClr val="FF2D8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zh-TW" altLang="en-US" sz="2400" b="1" dirty="0">
              <a:solidFill>
                <a:srgbClr val="FF2D8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B7816D1-342A-299D-8EC3-38576236FB48}"/>
              </a:ext>
            </a:extLst>
          </p:cNvPr>
          <p:cNvSpPr txBox="1"/>
          <p:nvPr/>
        </p:nvSpPr>
        <p:spPr>
          <a:xfrm>
            <a:off x="6553200" y="3906313"/>
            <a:ext cx="2108200" cy="97462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右鍵點格解除誤鎖；</a:t>
            </a:r>
            <a:endParaRPr lang="en-US" altLang="zh-TW" sz="2000" dirty="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algn="ctr"/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按下</a:t>
            </a:r>
            <a:r>
              <a:rPr lang="en-US" altLang="zh-TW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Clear </a:t>
            </a:r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會全部清掉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3989177D-0E62-3BF7-2BBA-CEC11A18D3AD}"/>
              </a:ext>
            </a:extLst>
          </p:cNvPr>
          <p:cNvSpPr/>
          <p:nvPr/>
        </p:nvSpPr>
        <p:spPr>
          <a:xfrm>
            <a:off x="9067800" y="2184400"/>
            <a:ext cx="2616200" cy="3175000"/>
          </a:xfrm>
          <a:prstGeom prst="roundRect">
            <a:avLst/>
          </a:prstGeom>
          <a:solidFill>
            <a:srgbClr val="080E16">
              <a:alpha val="96000"/>
            </a:srgbClr>
          </a:solidFill>
          <a:ln w="19050">
            <a:solidFill>
              <a:srgbClr val="39FF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13731A69-A4C6-77E8-BEED-B2B9AF4B704F}"/>
              </a:ext>
            </a:extLst>
          </p:cNvPr>
          <p:cNvSpPr/>
          <p:nvPr/>
        </p:nvSpPr>
        <p:spPr>
          <a:xfrm>
            <a:off x="9944100" y="1841500"/>
            <a:ext cx="863600" cy="863600"/>
          </a:xfrm>
          <a:prstGeom prst="ellipse">
            <a:avLst/>
          </a:prstGeom>
          <a:solidFill>
            <a:srgbClr val="04060A"/>
          </a:solidFill>
          <a:ln w="38100">
            <a:solidFill>
              <a:srgbClr val="39FF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F172354-D0BB-8B5A-9B35-DE841862872E}"/>
              </a:ext>
            </a:extLst>
          </p:cNvPr>
          <p:cNvSpPr txBox="1"/>
          <p:nvPr/>
        </p:nvSpPr>
        <p:spPr>
          <a:xfrm>
            <a:off x="10033000" y="2104023"/>
            <a:ext cx="685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2200" b="1">
                <a:solidFill>
                  <a:srgbClr val="39FF14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4</a:t>
            </a:r>
            <a:endParaRPr lang="zh-TW" altLang="en-US" sz="2200" b="1">
              <a:solidFill>
                <a:srgbClr val="39FF14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0DAFBC15-9867-390D-FE3E-FF7B2AF8743D}"/>
              </a:ext>
            </a:extLst>
          </p:cNvPr>
          <p:cNvSpPr txBox="1"/>
          <p:nvPr/>
        </p:nvSpPr>
        <p:spPr>
          <a:xfrm>
            <a:off x="9245600" y="2984500"/>
            <a:ext cx="22606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sz="2400" b="1">
                <a:solidFill>
                  <a:srgbClr val="39FF1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按 </a:t>
            </a:r>
            <a:r>
              <a:rPr lang="en-US" altLang="zh-TW" sz="2400" b="1">
                <a:solidFill>
                  <a:srgbClr val="39FF1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Done</a:t>
            </a:r>
            <a:endParaRPr lang="zh-TW" altLang="en-US" sz="2400" b="1">
              <a:solidFill>
                <a:srgbClr val="39FF14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C045DA18-F24B-0A8F-9970-653CE8A058CA}"/>
              </a:ext>
            </a:extLst>
          </p:cNvPr>
          <p:cNvSpPr txBox="1"/>
          <p:nvPr/>
        </p:nvSpPr>
        <p:spPr>
          <a:xfrm>
            <a:off x="9321800" y="3746500"/>
            <a:ext cx="21082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sz="20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完成後再開放玩家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ECDAE738-1F38-7D3F-842D-7BD09129612A}"/>
              </a:ext>
            </a:extLst>
          </p:cNvPr>
          <p:cNvSpPr/>
          <p:nvPr/>
        </p:nvSpPr>
        <p:spPr>
          <a:xfrm>
            <a:off x="4292600" y="5689600"/>
            <a:ext cx="3606800" cy="482600"/>
          </a:xfrm>
          <a:prstGeom prst="roundRect">
            <a:avLst/>
          </a:prstGeom>
          <a:solidFill>
            <a:srgbClr val="080E16">
              <a:alpha val="97000"/>
            </a:srgbClr>
          </a:solidFill>
          <a:ln w="19050">
            <a:solidFill>
              <a:srgbClr val="FF17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4C74474C-9214-7FCC-F7BC-B0DA35662723}"/>
              </a:ext>
            </a:extLst>
          </p:cNvPr>
          <p:cNvSpPr txBox="1"/>
          <p:nvPr/>
        </p:nvSpPr>
        <p:spPr>
          <a:xfrm>
            <a:off x="4330700" y="5815484"/>
            <a:ext cx="3530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1500" b="1" dirty="0">
                <a:solidFill>
                  <a:srgbClr val="FF1744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LOCK </a:t>
            </a:r>
            <a:r>
              <a:rPr lang="zh-TW" altLang="en-US" sz="1500" b="1" dirty="0">
                <a:solidFill>
                  <a:srgbClr val="FF1744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期間必須清場</a:t>
            </a:r>
          </a:p>
        </p:txBody>
      </p:sp>
    </p:spTree>
    <p:extLst>
      <p:ext uri="{BB962C8B-B14F-4D97-AF65-F5344CB8AC3E}">
        <p14:creationId xmlns:p14="http://schemas.microsoft.com/office/powerpoint/2010/main" val="528507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FD46573-0BA3-303E-97C2-06F42748C7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60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0E7DC9E4-4A4C-FCA3-3E16-F3273EECE2B9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501AC2BF-5E02-8DF0-2832-BCD689070C30}"/>
              </a:ext>
            </a:extLst>
          </p:cNvPr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89E36583-CCDE-33EA-DF82-5AD04C325D13}"/>
              </a:ext>
            </a:extLst>
          </p:cNvPr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568E9372-873B-2877-01C4-4A9E2F6CCACF}"/>
              </a:ext>
            </a:extLst>
          </p:cNvPr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FAB16FFC-461A-5549-7FC0-4F13D351710D}"/>
              </a:ext>
            </a:extLst>
          </p:cNvPr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82E0CC1C-BF20-161D-24F7-BA06746CDDBA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B0A10671-A0DA-25C4-71C4-57A2EE5B58B2}"/>
              </a:ext>
            </a:extLst>
          </p:cNvPr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B6347CAC-B130-B994-9476-833B5C96499E}"/>
              </a:ext>
            </a:extLst>
          </p:cNvPr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420A81F5-4269-2153-4CAD-B1E953178E8E}"/>
              </a:ext>
            </a:extLst>
          </p:cNvPr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863CC5F5-9E81-1F09-B870-80A5B9A8D0F3}"/>
              </a:ext>
            </a:extLst>
          </p:cNvPr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E811242F-3C42-284C-68A5-85B0B7953C7B}"/>
              </a:ext>
            </a:extLst>
          </p:cNvPr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6E904BDF-CEBC-8C2E-2BC1-8B4911D03013}"/>
              </a:ext>
            </a:extLst>
          </p:cNvPr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515471BF-A720-656D-6748-A532A0DCEDA7}"/>
              </a:ext>
            </a:extLst>
          </p:cNvPr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606F6DB6-31F4-9684-5174-69547D586548}"/>
              </a:ext>
            </a:extLst>
          </p:cNvPr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7047943-7F08-3BD3-6030-56234C2E51B7}"/>
              </a:ext>
            </a:extLst>
          </p:cNvPr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302CD0C0-E521-EECD-C999-AE105BD3BC8F}"/>
              </a:ext>
            </a:extLst>
          </p:cNvPr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5080" cap="flat" cmpd="sng" algn="ctr">
            <a:solidFill>
              <a:srgbClr val="00FFE5">
                <a:alpha val="7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61A009C0-313B-F875-CAFB-4946F447C5E3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00FF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F4D8722-CAA1-5610-EEA0-37C4435FC316}"/>
              </a:ext>
            </a:extLst>
          </p:cNvPr>
          <p:cNvSpPr/>
          <p:nvPr/>
        </p:nvSpPr>
        <p:spPr>
          <a:xfrm>
            <a:off x="0" y="6769100"/>
            <a:ext cx="12192000" cy="88900"/>
          </a:xfrm>
          <a:prstGeom prst="rect">
            <a:avLst/>
          </a:prstGeom>
          <a:solidFill>
            <a:srgbClr val="FF2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460DBFE-E163-B173-7C3F-74308F310EA7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04060A">
              <a:alpha val="9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4F5657F-DD90-51C7-6CB6-BCE73DC35977}"/>
              </a:ext>
            </a:extLst>
          </p:cNvPr>
          <p:cNvSpPr txBox="1"/>
          <p:nvPr/>
        </p:nvSpPr>
        <p:spPr>
          <a:xfrm>
            <a:off x="431800" y="241300"/>
            <a:ext cx="546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200" b="1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// 09 · 704 MINESWEEPER</a:t>
            </a:r>
            <a:endParaRPr lang="zh-TW" altLang="en-US" sz="1200" b="1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FFFB175-8F22-F6EB-67FB-9A4E29989584}"/>
              </a:ext>
            </a:extLst>
          </p:cNvPr>
          <p:cNvSpPr txBox="1"/>
          <p:nvPr/>
        </p:nvSpPr>
        <p:spPr>
          <a:xfrm>
            <a:off x="431800" y="571500"/>
            <a:ext cx="10795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輔助工具 </a:t>
            </a:r>
            <a:r>
              <a:rPr lang="en-US" altLang="zh-TW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 </a:t>
            </a:r>
            <a:r>
              <a:rPr lang="zh-TW" altLang="en-US" sz="3200" b="1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營運速查表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3025F82D-11EF-2AEA-8FF2-165DD22657B6}"/>
              </a:ext>
            </a:extLst>
          </p:cNvPr>
          <p:cNvSpPr txBox="1"/>
          <p:nvPr/>
        </p:nvSpPr>
        <p:spPr>
          <a:xfrm>
            <a:off x="469900" y="1117600"/>
            <a:ext cx="10795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400" dirty="0">
                <a:solidFill>
                  <a:srgbClr val="A5BEC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開場、帶場、異常處理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5D8AE37-1199-B25B-1CE7-5FC88556D09F}"/>
              </a:ext>
            </a:extLst>
          </p:cNvPr>
          <p:cNvSpPr txBox="1"/>
          <p:nvPr/>
        </p:nvSpPr>
        <p:spPr>
          <a:xfrm>
            <a:off x="11112500" y="6400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1200" b="1">
                <a:solidFill>
                  <a:srgbClr val="466478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09/09</a:t>
            </a:r>
            <a:endParaRPr lang="zh-TW" altLang="en-US" sz="1200" b="1">
              <a:solidFill>
                <a:srgbClr val="466478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F8E4B25-1384-FB11-02CB-79E03790B5CC}"/>
              </a:ext>
            </a:extLst>
          </p:cNvPr>
          <p:cNvSpPr/>
          <p:nvPr/>
        </p:nvSpPr>
        <p:spPr>
          <a:xfrm>
            <a:off x="482600" y="1752600"/>
            <a:ext cx="5397500" cy="584200"/>
          </a:xfrm>
          <a:prstGeom prst="rect">
            <a:avLst/>
          </a:prstGeom>
          <a:solidFill>
            <a:srgbClr val="00FFE5">
              <a:alpha val="9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8571773-D5B5-7FE5-FF08-2D0E086F25E5}"/>
              </a:ext>
            </a:extLst>
          </p:cNvPr>
          <p:cNvSpPr txBox="1"/>
          <p:nvPr/>
        </p:nvSpPr>
        <p:spPr>
          <a:xfrm>
            <a:off x="635000" y="1879600"/>
            <a:ext cx="5080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sz="2400" b="1">
                <a:solidFill>
                  <a:srgbClr val="04060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正常流程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4E28908-73EC-817E-ACA5-46707173EC2D}"/>
              </a:ext>
            </a:extLst>
          </p:cNvPr>
          <p:cNvSpPr/>
          <p:nvPr/>
        </p:nvSpPr>
        <p:spPr>
          <a:xfrm>
            <a:off x="6311900" y="1752600"/>
            <a:ext cx="5397500" cy="584200"/>
          </a:xfrm>
          <a:prstGeom prst="rect">
            <a:avLst/>
          </a:prstGeom>
          <a:solidFill>
            <a:srgbClr val="FF1744">
              <a:alpha val="9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11FB95E-4309-D017-9E39-C4CD53C91E87}"/>
              </a:ext>
            </a:extLst>
          </p:cNvPr>
          <p:cNvSpPr txBox="1"/>
          <p:nvPr/>
        </p:nvSpPr>
        <p:spPr>
          <a:xfrm>
            <a:off x="6464300" y="1879600"/>
            <a:ext cx="5080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zh-TW" altLang="en-US" sz="2400" b="1">
                <a:solidFill>
                  <a:srgbClr val="04060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遇到異常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35432B4-3BEF-FC27-2BEE-510ADD87BA67}"/>
              </a:ext>
            </a:extLst>
          </p:cNvPr>
          <p:cNvSpPr/>
          <p:nvPr/>
        </p:nvSpPr>
        <p:spPr>
          <a:xfrm>
            <a:off x="482600" y="2501900"/>
            <a:ext cx="5397500" cy="5461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00FF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422FF62-1977-00DF-47F2-5464A9509C0B}"/>
              </a:ext>
            </a:extLst>
          </p:cNvPr>
          <p:cNvSpPr txBox="1"/>
          <p:nvPr/>
        </p:nvSpPr>
        <p:spPr>
          <a:xfrm>
            <a:off x="635000" y="2616200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1700" b="1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1</a:t>
            </a:r>
            <a:endParaRPr lang="zh-TW" altLang="en-US" sz="1700" b="1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E3481274-96A4-B161-3751-45B010BBF864}"/>
              </a:ext>
            </a:extLst>
          </p:cNvPr>
          <p:cNvSpPr txBox="1"/>
          <p:nvPr/>
        </p:nvSpPr>
        <p:spPr>
          <a:xfrm>
            <a:off x="1117600" y="2603500"/>
            <a:ext cx="45085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開啟遊戲 → 等待控制台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3E8BA2-293E-8D39-B4B9-E21DAF63984E}"/>
              </a:ext>
            </a:extLst>
          </p:cNvPr>
          <p:cNvSpPr/>
          <p:nvPr/>
        </p:nvSpPr>
        <p:spPr>
          <a:xfrm>
            <a:off x="482600" y="3124200"/>
            <a:ext cx="5397500" cy="5461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00FF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1A88C0F7-15F6-67F0-7774-7C64212E866E}"/>
              </a:ext>
            </a:extLst>
          </p:cNvPr>
          <p:cNvSpPr txBox="1"/>
          <p:nvPr/>
        </p:nvSpPr>
        <p:spPr>
          <a:xfrm>
            <a:off x="635000" y="3238500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1700" b="1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2</a:t>
            </a:r>
            <a:endParaRPr lang="zh-TW" altLang="en-US" sz="1700" b="1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958908FB-B3AB-5610-5025-48237D49A601}"/>
              </a:ext>
            </a:extLst>
          </p:cNvPr>
          <p:cNvSpPr txBox="1"/>
          <p:nvPr/>
        </p:nvSpPr>
        <p:spPr>
          <a:xfrm>
            <a:off x="1117600" y="3225800"/>
            <a:ext cx="45085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zh-TW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BROADCAST → </a:t>
            </a:r>
            <a:r>
              <a:rPr lang="zh-TW" altLang="en-US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選擇螢幕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1EA02F4-7369-2039-18DB-989921FE4E31}"/>
              </a:ext>
            </a:extLst>
          </p:cNvPr>
          <p:cNvSpPr/>
          <p:nvPr/>
        </p:nvSpPr>
        <p:spPr>
          <a:xfrm>
            <a:off x="482600" y="3746500"/>
            <a:ext cx="5397500" cy="5461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00FF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659AC646-FA5E-4D51-DD1D-69739A20C259}"/>
              </a:ext>
            </a:extLst>
          </p:cNvPr>
          <p:cNvSpPr txBox="1"/>
          <p:nvPr/>
        </p:nvSpPr>
        <p:spPr>
          <a:xfrm>
            <a:off x="635000" y="3860800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1700" b="1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3</a:t>
            </a:r>
            <a:endParaRPr lang="zh-TW" altLang="en-US" sz="1700" b="1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0665B3B3-ABC3-2D8C-E8E3-FC43BE325D79}"/>
              </a:ext>
            </a:extLst>
          </p:cNvPr>
          <p:cNvSpPr txBox="1"/>
          <p:nvPr/>
        </p:nvSpPr>
        <p:spPr>
          <a:xfrm>
            <a:off x="1117600" y="3848100"/>
            <a:ext cx="45085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待機時設定限時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59B259E-E134-3E95-2C34-334CB98918AB}"/>
              </a:ext>
            </a:extLst>
          </p:cNvPr>
          <p:cNvSpPr/>
          <p:nvPr/>
        </p:nvSpPr>
        <p:spPr>
          <a:xfrm>
            <a:off x="482600" y="4368800"/>
            <a:ext cx="5397500" cy="5461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00FF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03FFDB5-952F-EB02-B001-4D93D8C64E35}"/>
              </a:ext>
            </a:extLst>
          </p:cNvPr>
          <p:cNvSpPr txBox="1"/>
          <p:nvPr/>
        </p:nvSpPr>
        <p:spPr>
          <a:xfrm>
            <a:off x="635000" y="4483100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1700" b="1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4</a:t>
            </a:r>
            <a:endParaRPr lang="zh-TW" altLang="en-US" sz="1700" b="1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860F2480-FC7B-1BF7-91AA-168058BEFCFE}"/>
              </a:ext>
            </a:extLst>
          </p:cNvPr>
          <p:cNvSpPr txBox="1"/>
          <p:nvPr/>
        </p:nvSpPr>
        <p:spPr>
          <a:xfrm>
            <a:off x="1117600" y="4470400"/>
            <a:ext cx="45085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玩家踩中央開始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2EEA6EE-82C9-6866-AD4E-EC3C5545B221}"/>
              </a:ext>
            </a:extLst>
          </p:cNvPr>
          <p:cNvSpPr/>
          <p:nvPr/>
        </p:nvSpPr>
        <p:spPr>
          <a:xfrm>
            <a:off x="482600" y="4991100"/>
            <a:ext cx="5397500" cy="5461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00FF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601D1979-9B58-1A94-CC19-2C61923698BD}"/>
              </a:ext>
            </a:extLst>
          </p:cNvPr>
          <p:cNvSpPr txBox="1"/>
          <p:nvPr/>
        </p:nvSpPr>
        <p:spPr>
          <a:xfrm>
            <a:off x="635000" y="5105400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1700" b="1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5</a:t>
            </a:r>
            <a:endParaRPr lang="zh-TW" altLang="en-US" sz="1700" b="1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89FC791E-C5D4-548A-4660-342D80DC3295}"/>
              </a:ext>
            </a:extLst>
          </p:cNvPr>
          <p:cNvSpPr txBox="1"/>
          <p:nvPr/>
        </p:nvSpPr>
        <p:spPr>
          <a:xfrm>
            <a:off x="1117600" y="5092700"/>
            <a:ext cx="45085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內 </a:t>
            </a:r>
            <a:r>
              <a:rPr lang="en-US" altLang="zh-TW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SCAN</a:t>
            </a:r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、外 </a:t>
            </a:r>
            <a:r>
              <a:rPr lang="en-US" altLang="zh-TW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MARK</a:t>
            </a:r>
            <a:r>
              <a:rPr lang="zh-TW" altLang="en-US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正常觸發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34D5B30-A186-3231-BB27-231C28DB99AB}"/>
              </a:ext>
            </a:extLst>
          </p:cNvPr>
          <p:cNvSpPr/>
          <p:nvPr/>
        </p:nvSpPr>
        <p:spPr>
          <a:xfrm>
            <a:off x="482600" y="5613400"/>
            <a:ext cx="5397500" cy="5461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00FF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140A181E-B63C-88A7-CC6A-6DEC1B6D9C54}"/>
              </a:ext>
            </a:extLst>
          </p:cNvPr>
          <p:cNvSpPr txBox="1"/>
          <p:nvPr/>
        </p:nvSpPr>
        <p:spPr>
          <a:xfrm>
            <a:off x="635000" y="5727700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TW" sz="1700" b="1">
                <a:solidFill>
                  <a:srgbClr val="00FFE5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6</a:t>
            </a:r>
            <a:endParaRPr lang="zh-TW" altLang="en-US" sz="1700" b="1">
              <a:solidFill>
                <a:srgbClr val="00FFE5"/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4C11AB44-682C-673D-C3CC-EC45147AAED7}"/>
              </a:ext>
            </a:extLst>
          </p:cNvPr>
          <p:cNvSpPr txBox="1"/>
          <p:nvPr/>
        </p:nvSpPr>
        <p:spPr>
          <a:xfrm>
            <a:off x="1117600" y="5715000"/>
            <a:ext cx="45085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結束後踩中央回待機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BEEFB89-AE6B-E456-691A-DA9F771383B3}"/>
              </a:ext>
            </a:extLst>
          </p:cNvPr>
          <p:cNvSpPr/>
          <p:nvPr/>
        </p:nvSpPr>
        <p:spPr>
          <a:xfrm>
            <a:off x="6311900" y="2501900"/>
            <a:ext cx="5397500" cy="6731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FF17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D956D35D-3671-1243-E123-703FADCA0B74}"/>
              </a:ext>
            </a:extLst>
          </p:cNvPr>
          <p:cNvSpPr txBox="1"/>
          <p:nvPr/>
        </p:nvSpPr>
        <p:spPr>
          <a:xfrm>
            <a:off x="6489700" y="2590800"/>
            <a:ext cx="19050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900" b="1">
                <a:solidFill>
                  <a:srgbClr val="FF174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沒投影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42ECD4B9-1EBE-BCE4-50E0-88775149A678}"/>
              </a:ext>
            </a:extLst>
          </p:cNvPr>
          <p:cNvSpPr txBox="1"/>
          <p:nvPr/>
        </p:nvSpPr>
        <p:spPr>
          <a:xfrm>
            <a:off x="8420100" y="2590800"/>
            <a:ext cx="3111500" cy="3129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70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停止後重新選擇螢幕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5C615B2-6112-8352-D0D4-0BC5D9F1994F}"/>
              </a:ext>
            </a:extLst>
          </p:cNvPr>
          <p:cNvSpPr/>
          <p:nvPr/>
        </p:nvSpPr>
        <p:spPr>
          <a:xfrm>
            <a:off x="6311900" y="3251200"/>
            <a:ext cx="5397500" cy="6731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FF17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24624645-F7C9-3B30-B40F-CEE8CEF7544B}"/>
              </a:ext>
            </a:extLst>
          </p:cNvPr>
          <p:cNvSpPr txBox="1"/>
          <p:nvPr/>
        </p:nvSpPr>
        <p:spPr>
          <a:xfrm>
            <a:off x="6489700" y="3340100"/>
            <a:ext cx="19050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900" b="1">
                <a:solidFill>
                  <a:srgbClr val="FF174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摸牆沒反應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BC824DA-A704-E07C-5A1A-7B5EAA769023}"/>
              </a:ext>
            </a:extLst>
          </p:cNvPr>
          <p:cNvSpPr txBox="1"/>
          <p:nvPr/>
        </p:nvSpPr>
        <p:spPr>
          <a:xfrm>
            <a:off x="8420100" y="3340100"/>
            <a:ext cx="3111500" cy="3129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70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確認不是暫停或紅色凍結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B89CD7D-24DB-E1D8-E610-7FE80D4EEAB8}"/>
              </a:ext>
            </a:extLst>
          </p:cNvPr>
          <p:cNvSpPr/>
          <p:nvPr/>
        </p:nvSpPr>
        <p:spPr>
          <a:xfrm>
            <a:off x="6311900" y="4000500"/>
            <a:ext cx="5397500" cy="6731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FF17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585AD9BE-9E9D-7ED3-2B83-3BC07431F596}"/>
              </a:ext>
            </a:extLst>
          </p:cNvPr>
          <p:cNvSpPr txBox="1"/>
          <p:nvPr/>
        </p:nvSpPr>
        <p:spPr>
          <a:xfrm>
            <a:off x="6489700" y="4089400"/>
            <a:ext cx="19050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900" b="1">
                <a:solidFill>
                  <a:srgbClr val="FF174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格子自己觸發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88E74EB5-B63A-209E-9D54-04388F0DEBF4}"/>
              </a:ext>
            </a:extLst>
          </p:cNvPr>
          <p:cNvSpPr txBox="1"/>
          <p:nvPr/>
        </p:nvSpPr>
        <p:spPr>
          <a:xfrm>
            <a:off x="8420100" y="4089400"/>
            <a:ext cx="3111500" cy="3129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70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清場後使用 </a:t>
            </a:r>
            <a:r>
              <a:rPr lang="en-US" altLang="zh-TW" sz="170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LOCK</a:t>
            </a:r>
            <a:endParaRPr lang="zh-TW" altLang="en-US" sz="1700">
              <a:solidFill>
                <a:srgbClr val="E8F9FC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C72C63A-78A3-3460-2431-37FAD7C4AE4A}"/>
              </a:ext>
            </a:extLst>
          </p:cNvPr>
          <p:cNvSpPr/>
          <p:nvPr/>
        </p:nvSpPr>
        <p:spPr>
          <a:xfrm>
            <a:off x="6311900" y="4749800"/>
            <a:ext cx="5397500" cy="6731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FF17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83373275-CD26-5F49-B017-3F0BB318C6A9}"/>
              </a:ext>
            </a:extLst>
          </p:cNvPr>
          <p:cNvSpPr txBox="1"/>
          <p:nvPr/>
        </p:nvSpPr>
        <p:spPr>
          <a:xfrm>
            <a:off x="6489700" y="4838700"/>
            <a:ext cx="19050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900" b="1">
                <a:solidFill>
                  <a:srgbClr val="FF174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畫面位置不對</a:t>
            </a: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01C6A002-6D0B-F4D0-FCF3-AE05C25BCA6D}"/>
              </a:ext>
            </a:extLst>
          </p:cNvPr>
          <p:cNvSpPr txBox="1"/>
          <p:nvPr/>
        </p:nvSpPr>
        <p:spPr>
          <a:xfrm>
            <a:off x="8420100" y="4838700"/>
            <a:ext cx="3111500" cy="3129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7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停止遊戲，通知遊戲組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E82321D-D21C-A635-3249-D2EB70CBB777}"/>
              </a:ext>
            </a:extLst>
          </p:cNvPr>
          <p:cNvSpPr/>
          <p:nvPr/>
        </p:nvSpPr>
        <p:spPr>
          <a:xfrm>
            <a:off x="6311900" y="5499100"/>
            <a:ext cx="5397500" cy="673100"/>
          </a:xfrm>
          <a:prstGeom prst="rect">
            <a:avLst/>
          </a:prstGeom>
          <a:solidFill>
            <a:srgbClr val="080E16">
              <a:alpha val="96000"/>
            </a:srgbClr>
          </a:solidFill>
          <a:ln w="12700">
            <a:solidFill>
              <a:srgbClr val="FF17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EB40D1C0-BB65-F820-C961-AF9F9C0E7F79}"/>
              </a:ext>
            </a:extLst>
          </p:cNvPr>
          <p:cNvSpPr txBox="1"/>
          <p:nvPr/>
        </p:nvSpPr>
        <p:spPr>
          <a:xfrm>
            <a:off x="6489700" y="5588000"/>
            <a:ext cx="19050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900" b="1">
                <a:solidFill>
                  <a:srgbClr val="FF174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仍無法排除</a:t>
            </a: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C225FD0C-3282-E10E-E3C9-78E84EFB1814}"/>
              </a:ext>
            </a:extLst>
          </p:cNvPr>
          <p:cNvSpPr txBox="1"/>
          <p:nvPr/>
        </p:nvSpPr>
        <p:spPr>
          <a:xfrm>
            <a:off x="8420100" y="5588000"/>
            <a:ext cx="3111500" cy="3129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zh-TW" altLang="en-US" sz="1700" dirty="0">
                <a:solidFill>
                  <a:srgbClr val="E8F9FC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停止遊戲，通知遊戲組</a:t>
            </a: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83EDB7E1-B659-4B8A-407A-B5FE0422565C}"/>
              </a:ext>
            </a:extLst>
          </p:cNvPr>
          <p:cNvSpPr/>
          <p:nvPr/>
        </p:nvSpPr>
        <p:spPr>
          <a:xfrm>
            <a:off x="6604000" y="6019800"/>
            <a:ext cx="4902200" cy="482600"/>
          </a:xfrm>
          <a:prstGeom prst="roundRect">
            <a:avLst/>
          </a:prstGeom>
          <a:solidFill>
            <a:srgbClr val="080E16">
              <a:alpha val="97000"/>
            </a:srgbClr>
          </a:solidFill>
          <a:ln w="19050">
            <a:solidFill>
              <a:srgbClr val="FFB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3E5E5186-A45C-7E48-9389-C13AEBEFB5E9}"/>
              </a:ext>
            </a:extLst>
          </p:cNvPr>
          <p:cNvSpPr txBox="1"/>
          <p:nvPr/>
        </p:nvSpPr>
        <p:spPr>
          <a:xfrm>
            <a:off x="6642100" y="6121400"/>
            <a:ext cx="482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TW" altLang="en-US" sz="1500" b="1">
                <a:solidFill>
                  <a:srgbClr val="FFB000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收場：</a:t>
            </a:r>
            <a:r>
              <a:rPr lang="en-US" altLang="zh-TW" sz="1500" b="1">
                <a:solidFill>
                  <a:srgbClr val="FFB000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STOP_BROADCAST → </a:t>
            </a:r>
            <a:r>
              <a:rPr lang="zh-TW" altLang="en-US" sz="1500" b="1">
                <a:solidFill>
                  <a:srgbClr val="FFB000"/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關閉控制台</a:t>
            </a:r>
          </a:p>
        </p:txBody>
      </p:sp>
    </p:spTree>
    <p:extLst>
      <p:ext uri="{BB962C8B-B14F-4D97-AF65-F5344CB8AC3E}">
        <p14:creationId xmlns:p14="http://schemas.microsoft.com/office/powerpoint/2010/main" val="3449811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813</Words>
  <Application>Microsoft Office PowerPoint</Application>
  <PresentationFormat>寬螢幕</PresentationFormat>
  <Paragraphs>183</Paragraphs>
  <Slides>10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Microsoft JhengHei UI</vt:lpstr>
      <vt:lpstr>Aptos</vt:lpstr>
      <vt:lpstr>Aptos Display</vt:lpstr>
      <vt:lpstr>Arial</vt:lpstr>
      <vt:lpstr>Bahnschrift</vt:lpstr>
      <vt:lpstr>Consolas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MOMO UANG</dc:creator>
  <cp:lastModifiedBy>MOMO UANG</cp:lastModifiedBy>
  <cp:revision>9</cp:revision>
  <dcterms:created xsi:type="dcterms:W3CDTF">2026-08-11T07:28:38Z</dcterms:created>
  <dcterms:modified xsi:type="dcterms:W3CDTF">2026-08-12T02:04:11Z</dcterms:modified>
</cp:coreProperties>
</file>